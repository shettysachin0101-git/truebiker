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2" r:id="rId14"/>
    <p:sldId id="273" r:id="rId15"/>
    <p:sldId id="274" r:id="rId16"/>
    <p:sldId id="276" r:id="rId17"/>
    <p:sldId id="277" r:id="rId18"/>
    <p:sldId id="266" r:id="rId19"/>
    <p:sldId id="26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4F2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4F2E"/>
                </a:solidFill>
                <a:latin typeface="Arial"/>
              </a:rPr>
              <a:t>Model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4F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11-4B88-AA8E-01E1C8971A7F}"/>
              </c:ext>
            </c:extLst>
          </c:dPt>
          <c:dPt>
            <c:idx val="1"/>
            <c:invertIfNegative val="0"/>
            <c:bubble3D val="0"/>
            <c:spPr>
              <a:solidFill>
                <a:srgbClr val="1A7A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11-4B88-AA8E-01E1C8971A7F}"/>
              </c:ext>
            </c:extLst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11-4B88-AA8E-01E1C8971A7F}"/>
              </c:ext>
            </c:extLst>
          </c:dPt>
          <c:dPt>
            <c:idx val="3"/>
            <c:invertIfNegative val="0"/>
            <c:bubble3D val="0"/>
            <c:spPr>
              <a:solidFill>
                <a:srgbClr val="0069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11-4B88-AA8E-01E1C8971A7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Crop</c:v>
                </c:pt>
                <c:pt idx="1">
                  <c:v>Fertility</c:v>
                </c:pt>
                <c:pt idx="2">
                  <c:v>Fertilizer</c:v>
                </c:pt>
                <c:pt idx="3">
                  <c:v>Irrigation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88</c:v>
                </c:pt>
                <c:pt idx="2">
                  <c:v>87</c:v>
                </c:pt>
                <c:pt idx="3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111-4B88-AA8E-01E1C8971A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53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D4FA4-4CC2-3C66-D680-F5F2B97D9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FAC1B-BC7F-9542-E051-F8AEF35F8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08C8E-7814-E736-7ECC-156F03D55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6121A-3D26-975D-99EB-B1CBA9B34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04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21C9-1FAF-9417-1BF1-7CAD3987D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C8098-5723-8F4A-5E07-1C30016DB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E4C7A-C84D-BD3A-0DB1-1B07DF603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8528E-240A-9348-5EE3-D5B6DBEE2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03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F534B-8C4F-F61E-F6E5-891C7654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EDAEF-F8F2-EB3E-3FD4-553E3F4AD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C1633-8A2E-23D3-3A23-8D1EA347A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6E9EA-68B4-5914-89EF-10B4EACC76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03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A0A32-1852-6CFF-3E0A-DA656D90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AF925-4D37-D227-065F-AE234F24E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40AD0-3A30-EDA5-3908-4A94094AC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912AE-3961-4A2C-4A39-A6AB927891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18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E1CF5-30D1-6DE9-E9A7-F4C81634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D006A-09E1-AC24-7BF2-73EC26AC4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9C17E-3AB0-D57F-EA3B-26D204A93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F676B-64AA-36BF-88BA-E9D24ACC7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74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C26A-49A4-C462-C067-54362A60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AE348-F048-F948-BDCD-EB851722F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1541B-E6EE-EB3F-881E-77DC2FF0C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D1081-8B64-C374-C4DE-D510007570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85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6B5E1-439E-63E0-38BD-6B446846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B6A7D-7D23-EC3A-D550-CCC952BFF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EDBF9-8E50-A74B-22DD-511E40F9C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61B1D-70AC-D247-8B89-24708E8C8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39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1A7A44">
              <a:alpha val="40000"/>
            </a:srgbClr>
          </a:solidFill>
          <a:ln w="12700">
            <a:solidFill>
              <a:srgbClr val="1A7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0A3D22">
              <a:alpha val="50000"/>
            </a:srgbClr>
          </a:solidFill>
          <a:ln w="12700">
            <a:solidFill>
              <a:srgbClr val="0A3D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1A7A44">
              <a:alpha val="30000"/>
            </a:srgbClr>
          </a:solidFill>
          <a:ln w="12700">
            <a:solidFill>
              <a:srgbClr val="1A7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49440" y="274320"/>
            <a:ext cx="1920240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6EE8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949440" y="274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IEI Student Chapter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Offline Intelligent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Fertility &amp; Irrigation Advisor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Raspberry Pi and ESP32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5029200" cy="36576"/>
          </a:xfrm>
          <a:prstGeom prst="rect">
            <a:avLst/>
          </a:prstGeom>
          <a:solidFill>
            <a:srgbClr val="6EE8A2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AI, IoT &amp; Embedded Systems for Agriculture and Rural Development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5669280" cy="1417320"/>
          </a:xfrm>
          <a:prstGeom prst="rect">
            <a:avLst/>
          </a:prstGeom>
          <a:solidFill>
            <a:srgbClr val="0A3D22"/>
          </a:solidFill>
          <a:ln w="10160">
            <a:solidFill>
              <a:srgbClr val="6EE8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Pranitha D Salian  ·  Samuel Jesten Serrao  ·  Prathik J Hegde  ·  Sachin Shetty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Chandrakantha T S  &amp;  Dr. Madhwaraj K G (HOD)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307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8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Mangalore Institute of Technology and Engineering (MITE) — MCA Dept.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Badaga Mijar, Near Moodabidre, Mangaluru, Karnataka – 574225</a:t>
            </a:r>
            <a:endParaRPr lang="en-US" sz="8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1097280" cy="109728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743200"/>
            <a:ext cx="731520" cy="7315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precision agriculture need AI?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54864" cy="3474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58 %+ of India's rural population depends on agriculture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losses from over-fertilization &amp; poor irrigation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soil lab results take days to weeks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in remote farm locations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require cloud — unusable offline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4297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54864" cy="347472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73168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1828800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multi-parameter soil sensor (RS485 Modbus)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 collects &amp; transmits data over local Wi-Fi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runs 4 AI models — fully offline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LCD, web dashboard &amp; SMS alert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cloud, no internet needed — works anywhere</a:t>
            </a:r>
            <a:endParaRPr lang="en-US" sz="11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37744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4852"/>
            <a:ext cx="9144000" cy="823273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84798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4885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goals driving the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1613" y="951675"/>
            <a:ext cx="3940345" cy="888545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1613" y="951675"/>
            <a:ext cx="461104" cy="888545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1613" y="1299147"/>
            <a:ext cx="461104" cy="32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5973" y="1024827"/>
            <a:ext cx="3311566" cy="27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Multi-Parameter Sensing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5973" y="1454595"/>
            <a:ext cx="3311566" cy="41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Moisture, Temperature, EC, pH via Modbus RS485 sensor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1613" y="1994808"/>
            <a:ext cx="3940345" cy="888545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1613" y="1994808"/>
            <a:ext cx="461104" cy="888545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1613" y="2230931"/>
            <a:ext cx="461104" cy="32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5973" y="2067960"/>
            <a:ext cx="3311566" cy="27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 AI 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5973" y="2497728"/>
            <a:ext cx="3311566" cy="41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Fertility, Fertilizer &amp; Irrigation classifiers using ML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2829" y="3054685"/>
            <a:ext cx="3940345" cy="888545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12829" y="3054685"/>
            <a:ext cx="461104" cy="888545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12829" y="3402157"/>
            <a:ext cx="461104" cy="32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7189" y="3127837"/>
            <a:ext cx="3311566" cy="27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Edge Inference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7189" y="3557605"/>
            <a:ext cx="3311566" cy="41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models on Raspberry Pi — zero internet dependency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1613" y="4005072"/>
            <a:ext cx="4002915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5277" y="4007038"/>
            <a:ext cx="502920" cy="80467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25277" y="4178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7480" y="408019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Web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7480" y="4308513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Auto-refreshing UI accessible over local Wi-Fi hotspot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13115" y="1077895"/>
            <a:ext cx="3730752" cy="888545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13115" y="1077895"/>
            <a:ext cx="461104" cy="888545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13115" y="1425367"/>
            <a:ext cx="461104" cy="32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7475" y="1151047"/>
            <a:ext cx="3101974" cy="27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 System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7475" y="1580815"/>
            <a:ext cx="3101974" cy="41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GSM delivers results to farmer mobile phones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13115" y="2431207"/>
            <a:ext cx="3730752" cy="888545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13115" y="2431207"/>
            <a:ext cx="461104" cy="888545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13115" y="2778679"/>
            <a:ext cx="461104" cy="32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7475" y="2504359"/>
            <a:ext cx="3101974" cy="27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On-Field Display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7475" y="2934127"/>
            <a:ext cx="3101974" cy="41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I2C LCD shows live readings without any extra device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13115" y="3784519"/>
            <a:ext cx="3730752" cy="888545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13115" y="3784519"/>
            <a:ext cx="461104" cy="888545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13115" y="4131991"/>
            <a:ext cx="461104" cy="32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7475" y="3857671"/>
            <a:ext cx="3101974" cy="27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Deployment Ready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7475" y="4287439"/>
            <a:ext cx="3101974" cy="41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Affordable, scalable solution for remote agricultural regions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4846320"/>
            <a:ext cx="7126156" cy="141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IoT → Edge AI → Output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1261872"/>
            <a:ext cx="932688" cy="960120"/>
          </a:xfrm>
          <a:prstGeom prst="rect">
            <a:avLst/>
          </a:prstGeom>
          <a:solidFill>
            <a:srgbClr val="0D4F2E"/>
          </a:solidFill>
          <a:ln w="12700">
            <a:solidFill>
              <a:srgbClr val="0D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1261872"/>
            <a:ext cx="9326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LAYER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37160" y="2606040"/>
            <a:ext cx="93268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" y="2606040"/>
            <a:ext cx="9326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LAYER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" y="3913632"/>
            <a:ext cx="932688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7160" y="3913632"/>
            <a:ext cx="9326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170432" y="1261872"/>
            <a:ext cx="1298448" cy="960120"/>
          </a:xfrm>
          <a:prstGeom prst="rect">
            <a:avLst/>
          </a:prstGeom>
          <a:solidFill>
            <a:srgbClr val="0D4F2E"/>
          </a:solidFill>
          <a:ln w="12700">
            <a:solidFill>
              <a:srgbClr val="0D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70432" y="1316736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NPK+THEC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Sensor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70432" y="173736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Moisture·Temp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EC·pH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87168" y="1673352"/>
            <a:ext cx="146304" cy="54864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50592" y="1536192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RS485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651760" y="1261872"/>
            <a:ext cx="1298448" cy="960120"/>
          </a:xfrm>
          <a:prstGeom prst="rect">
            <a:avLst/>
          </a:prstGeom>
          <a:solidFill>
            <a:srgbClr val="1A7A44"/>
          </a:solidFill>
          <a:ln w="12700">
            <a:solidFill>
              <a:srgbClr val="1A7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651760" y="1316736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MAX485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51760" y="173736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RS485↔TTL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GPIO4 RE/DE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68496" y="1673352"/>
            <a:ext cx="146304" cy="54864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31920" y="1536192"/>
            <a:ext cx="256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UART2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133088" y="1234440"/>
            <a:ext cx="1481328" cy="1033272"/>
          </a:xfrm>
          <a:prstGeom prst="rect">
            <a:avLst/>
          </a:prstGeom>
          <a:solidFill>
            <a:srgbClr val="2C8A5A"/>
          </a:solidFill>
          <a:ln w="19050">
            <a:solidFill>
              <a:srgbClr val="1A7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33088" y="128016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33088" y="1627632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· Modbus Master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· LCD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632704" y="1673352"/>
            <a:ext cx="146304" cy="54864"/>
          </a:xfrm>
          <a:prstGeom prst="rect">
            <a:avLst/>
          </a:prstGeom>
          <a:solidFill>
            <a:srgbClr val="546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596128" y="1536192"/>
            <a:ext cx="219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4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779008" y="1261872"/>
            <a:ext cx="1298448" cy="960120"/>
          </a:xfrm>
          <a:prstGeom prst="rect">
            <a:avLst/>
          </a:prstGeom>
          <a:solidFill>
            <a:srgbClr val="546A5F"/>
          </a:solidFill>
          <a:ln w="12700">
            <a:solidFill>
              <a:srgbClr val="546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779008" y="1316736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79008" y="173736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0x27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readings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45736" y="2221992"/>
            <a:ext cx="54864" cy="347472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270248" y="2286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· Wi-Fi LAN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170432" y="2606040"/>
            <a:ext cx="1335024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170432" y="2651760"/>
            <a:ext cx="1335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70432" y="304495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651760" y="2606040"/>
            <a:ext cx="1335024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651760" y="2651760"/>
            <a:ext cx="1335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51760" y="304495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&gt;88%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133088" y="2606040"/>
            <a:ext cx="1335024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133088" y="2651760"/>
            <a:ext cx="1335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33088" y="304495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&gt;87%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14416" y="2606040"/>
            <a:ext cx="1335024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614416" y="2651760"/>
            <a:ext cx="1335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14416" y="304495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&gt;91%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132320" y="2578608"/>
            <a:ext cx="178308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132320" y="263347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Server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32320" y="3145536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/get_data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5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/send_sms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132320" y="2743200"/>
            <a:ext cx="0" cy="0"/>
          </a:xfrm>
          <a:prstGeom prst="line">
            <a:avLst/>
          </a:prstGeom>
          <a:noFill/>
          <a:ln w="6350">
            <a:solidFill>
              <a:srgbClr val="C0392B"/>
            </a:solidFill>
            <a:prstDash val="dashDot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132320" y="2807208"/>
            <a:ext cx="0" cy="0"/>
          </a:xfrm>
          <a:prstGeom prst="line">
            <a:avLst/>
          </a:prstGeom>
          <a:noFill/>
          <a:ln w="6350">
            <a:solidFill>
              <a:srgbClr val="C0392B"/>
            </a:solidFill>
            <a:prstDash val="dashDot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132320" y="2871216"/>
            <a:ext cx="0" cy="0"/>
          </a:xfrm>
          <a:prstGeom prst="line">
            <a:avLst/>
          </a:prstGeom>
          <a:noFill/>
          <a:ln w="6350">
            <a:solidFill>
              <a:srgbClr val="C0392B"/>
            </a:solidFill>
            <a:prstDash val="dashDot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132320" y="2935224"/>
            <a:ext cx="0" cy="0"/>
          </a:xfrm>
          <a:prstGeom prst="line">
            <a:avLst/>
          </a:prstGeom>
          <a:noFill/>
          <a:ln w="6350">
            <a:solidFill>
              <a:srgbClr val="C0392B"/>
            </a:solidFill>
            <a:prstDash val="dashDot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56032" y="3913632"/>
            <a:ext cx="1298448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56032" y="391363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Crop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77824" y="3566160"/>
            <a:ext cx="54864" cy="32918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700784" y="3913632"/>
            <a:ext cx="1298448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1700784" y="391363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 Level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322576" y="3566160"/>
            <a:ext cx="54864" cy="32918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3145536" y="3913632"/>
            <a:ext cx="1298448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145536" y="391363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Type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767328" y="3566160"/>
            <a:ext cx="54864" cy="32918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590288" y="3913632"/>
            <a:ext cx="1298448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590288" y="391363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Advisory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212080" y="3566160"/>
            <a:ext cx="54864" cy="32918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035040" y="3913632"/>
            <a:ext cx="1298448" cy="7132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035040" y="391363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(SIM800L)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479792" y="3913632"/>
            <a:ext cx="1298448" cy="7132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479792" y="391363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56032" y="4663440"/>
            <a:ext cx="128016" cy="128016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20624" y="4663440"/>
            <a:ext cx="1188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Hardware/Sensing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719072" y="4663440"/>
            <a:ext cx="128016" cy="12801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1883664" y="4663440"/>
            <a:ext cx="1188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182112" y="4663440"/>
            <a:ext cx="128016" cy="12801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346704" y="4663440"/>
            <a:ext cx="1188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645152" y="4663440"/>
            <a:ext cx="128016" cy="128016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809744" y="4663440"/>
            <a:ext cx="1188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108192" y="4663440"/>
            <a:ext cx="128016" cy="12801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272784" y="4663440"/>
            <a:ext cx="1188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7571232" y="4663440"/>
            <a:ext cx="128016" cy="128016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735824" y="4663440"/>
            <a:ext cx="1188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key hardware elements and their roles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594360" cy="120700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6276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389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NPK+THEC Soil Sensor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1832" y="17007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RS485 Modbus RTU · Slave ID 2 · 9600 baud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41832" y="19568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Moisture, Temperature, Electrical Conductivity, pH simultaneously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129844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663440" y="1298448"/>
            <a:ext cx="594360" cy="1207008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276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389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MAX485 Module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49240" y="17007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↔ RS485 · RE/DE → GPIO 4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349240" y="19568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Half-duplex RS485 bus control — switches between TX and RX modes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56032" y="267004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256032" y="2670048"/>
            <a:ext cx="594360" cy="1207008"/>
          </a:xfrm>
          <a:prstGeom prst="rect">
            <a:avLst/>
          </a:prstGeom>
          <a:solidFill>
            <a:srgbClr val="2C8A5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9923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1832" y="27614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 Board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41832" y="30723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MHz Dual-core · Built-in Wi-Fi &amp; BT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41832" y="33284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sensor via Modbus Master, sends JSON HTTP POST to Raspberry Pi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663440" y="267004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4663440" y="2670048"/>
            <a:ext cx="594360" cy="1207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99232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49240" y="27614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3B+/4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49240" y="30723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 · Linux · Flask · scikit-learn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349240" y="33284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server — runs 4 ML models and serves local web dashboard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256032" y="404164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256032" y="4041648"/>
            <a:ext cx="594360" cy="120700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370832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41832" y="41330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SIM800L GSM Module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941832" y="44439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/dev/serial0 · 9600 baud · AT commands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941832" y="47000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SMS alerts with AI predictions to farmer mobile numbers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4663440" y="4041648"/>
            <a:ext cx="4206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4663440" y="4041648"/>
            <a:ext cx="594360" cy="120700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370832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49240" y="41330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I2C LCD Display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349240" y="44439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address 0x27 · 5V · 16 chars × 2 rows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5349240" y="470001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live sensor readings on-field without requiring any screen device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Communication — Modbus RS485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ESP32 reads the 4-parameter soil sensor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3891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54864" cy="3474720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Register Map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822960" cy="475488"/>
          </a:xfrm>
          <a:prstGeom prst="rect">
            <a:avLst/>
          </a:prstGeom>
          <a:solidFill>
            <a:srgbClr val="0D4F2E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70432" y="1828800"/>
            <a:ext cx="1051560" cy="475488"/>
          </a:xfrm>
          <a:prstGeom prst="rect">
            <a:avLst/>
          </a:prstGeom>
          <a:solidFill>
            <a:srgbClr val="0D4F2E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07008" y="1920240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21992" y="1828800"/>
            <a:ext cx="621792" cy="475488"/>
          </a:xfrm>
          <a:prstGeom prst="rect">
            <a:avLst/>
          </a:prstGeom>
          <a:solidFill>
            <a:srgbClr val="0D4F2E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58568" y="192024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43784" y="1828800"/>
            <a:ext cx="960120" cy="475488"/>
          </a:xfrm>
          <a:prstGeom prst="rect">
            <a:avLst/>
          </a:prstGeom>
          <a:solidFill>
            <a:srgbClr val="0D4F2E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880360" y="1920240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03904" y="1828800"/>
            <a:ext cx="822960" cy="475488"/>
          </a:xfrm>
          <a:prstGeom prst="rect">
            <a:avLst/>
          </a:prstGeom>
          <a:solidFill>
            <a:srgbClr val="0D4F2E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40480" y="192024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304288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4048" y="239572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70432" y="2304288"/>
            <a:ext cx="1051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207008" y="2395728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21992" y="2304288"/>
            <a:ext cx="62179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258568" y="239572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%RH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43784" y="2304288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880360" y="2395728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÷ 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03904" y="2304288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840480" y="239572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→ 25.0%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2779776"/>
            <a:ext cx="82296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4048" y="287121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70432" y="2779776"/>
            <a:ext cx="105156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207008" y="2871216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21992" y="2779776"/>
            <a:ext cx="621792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258568" y="28712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43784" y="2779776"/>
            <a:ext cx="96012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880360" y="2871216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÷ 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03904" y="2779776"/>
            <a:ext cx="82296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840480" y="287121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→ 28.0°C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7472" y="3255264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84048" y="334670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70432" y="3255264"/>
            <a:ext cx="1051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207008" y="3346704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21992" y="3255264"/>
            <a:ext cx="62179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258568" y="3346704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µS/cm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43784" y="3255264"/>
            <a:ext cx="960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880360" y="3346704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03904" y="3255264"/>
            <a:ext cx="822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840480" y="334670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→ 320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7472" y="3730752"/>
            <a:ext cx="82296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84048" y="382219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70432" y="3730752"/>
            <a:ext cx="105156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207008" y="3822192"/>
            <a:ext cx="978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21992" y="3730752"/>
            <a:ext cx="621792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258568" y="382219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843784" y="3730752"/>
            <a:ext cx="96012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2880360" y="3822192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÷10 if &gt;14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803904" y="3730752"/>
            <a:ext cx="82296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840480" y="382219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→ 7.3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47472" y="43434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Baud: 9600 · Format: 8N1 · Slave ID: 2 · RE/DE: GPIO 4 (HIGH=TX, LOW=RX)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46320" y="1298448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846320" y="1298448"/>
            <a:ext cx="54864" cy="347472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047488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Flow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029200" y="1828800"/>
            <a:ext cx="402336" cy="402336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5029200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532120" y="1847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4 Modbus Registers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532120" y="20299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readHoldingRegisters(0x0000, 4)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221224" y="2231136"/>
            <a:ext cx="18288" cy="914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5029200" y="2322576"/>
            <a:ext cx="402336" cy="402336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029200" y="2322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532120" y="23408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Raw Values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532120" y="25237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÷10 for moisture/temp/pH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221224" y="2724912"/>
            <a:ext cx="18288" cy="914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5029200" y="2816352"/>
            <a:ext cx="402336" cy="402336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5029200" y="2816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5532120" y="2834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on 16×2 LCD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532120" y="3017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T:28°C pH:7.3 EC:320 M:25%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221224" y="3218688"/>
            <a:ext cx="18288" cy="914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5029200" y="3310128"/>
            <a:ext cx="402336" cy="402336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5029200" y="33101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5532120" y="33284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JSON Payload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532120" y="35112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{temperature, moisture, ec, ph}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221224" y="3712464"/>
            <a:ext cx="18288" cy="914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5029200" y="3803904"/>
            <a:ext cx="402336" cy="402336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5029200" y="3803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5532120" y="3822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to Raspberry Pi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532120" y="4005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http://pi_ip:5000/predict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221224" y="4206240"/>
            <a:ext cx="18288" cy="914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5029200" y="4297680"/>
            <a:ext cx="402336" cy="402336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5029200" y="4297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5532120" y="4315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3s → Repeat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532120" y="4498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continues indefinitely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offline classifiers trained on soil parameters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2062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4206240" cy="411480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93592" y="1792224"/>
            <a:ext cx="804672" cy="457200"/>
          </a:xfrm>
          <a:prstGeom prst="rect">
            <a:avLst/>
          </a:prstGeom>
          <a:solidFill>
            <a:srgbClr val="0D4F2E"/>
          </a:solidFill>
          <a:ln w="12700">
            <a:solidFill>
              <a:srgbClr val="0D4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93592" y="1792224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224942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3192" y="179222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" y="201168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Moisture, Temperature, EC, pH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" y="223113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· Wheat · Cotton · Sugarcane · etc.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" y="2715768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with joblib · LabelEncoder for inverse_transform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82312" y="1298448"/>
            <a:ext cx="42062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82312" y="1298448"/>
            <a:ext cx="4206240" cy="4114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92040" y="135331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Fertility Model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19872" y="1792224"/>
            <a:ext cx="804672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19872" y="1792224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19872" y="2249424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19472" y="179222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201168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Moisture, Temperature, EC, pH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9472" y="223113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Medium · 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2715768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with joblib · LabelEncoder for inverse_transform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" y="3200400"/>
            <a:ext cx="42062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56032" y="3200400"/>
            <a:ext cx="4206240" cy="41148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325526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Recommendation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593592" y="3694176"/>
            <a:ext cx="804672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593592" y="3694176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&gt;87%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93592" y="41513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93192" y="369417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" y="391363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Moisture, Temperature, EC, pH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" y="4133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Urea · DAP · NPK 10-26-26 · etc.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" y="4617720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with joblib · LabelEncoder for inverse_transform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82312" y="3200400"/>
            <a:ext cx="42062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82312" y="3200400"/>
            <a:ext cx="4206240" cy="41148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92040" y="3255264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Advisory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119872" y="3694176"/>
            <a:ext cx="804672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119872" y="3694176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&gt;91%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19872" y="4151376"/>
            <a:ext cx="804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19472" y="369417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9472" y="391363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Moisture, Temperature, EC, pH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19472" y="4133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 Now · Moderate · No Irrigation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19472" y="4617720"/>
            <a:ext cx="3950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with joblib · LabelEncoder for inverse_transform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&amp; Web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server endpoints and live monitoring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5029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54864" cy="35204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874520"/>
            <a:ext cx="4828032" cy="621792"/>
          </a:xfrm>
          <a:prstGeom prst="rect">
            <a:avLst/>
          </a:prstGeom>
          <a:solidFill>
            <a:srgbClr val="E8F4FB"/>
          </a:solidFill>
          <a:ln w="6350">
            <a:solidFill>
              <a:srgbClr val="E0E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84048" y="1965960"/>
            <a:ext cx="566928" cy="31089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4048" y="196596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4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auto-refreshing HTML 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569464"/>
            <a:ext cx="482803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2660904"/>
            <a:ext cx="566928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2660904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2624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4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28895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JSON sensor data; runs 4 AI models; returns predictions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264408"/>
            <a:ext cx="4828032" cy="621792"/>
          </a:xfrm>
          <a:prstGeom prst="rect">
            <a:avLst/>
          </a:prstGeom>
          <a:solidFill>
            <a:srgbClr val="E8F4FB"/>
          </a:solidFill>
          <a:ln w="6350">
            <a:solidFill>
              <a:srgbClr val="E0E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84048" y="3355848"/>
            <a:ext cx="566928" cy="31089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355848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" y="3319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4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/get_data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358444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latest sensor + prediction data (polled every 3s by JS)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959352"/>
            <a:ext cx="482803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4048" y="4050792"/>
            <a:ext cx="566928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4048" y="4050792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5840" y="40142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4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/send_sms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42793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mobile number; sends SMS alert via SIM800L AT commands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1298448"/>
            <a:ext cx="3429000" cy="3520440"/>
          </a:xfrm>
          <a:prstGeom prst="rect">
            <a:avLst/>
          </a:prstGeom>
          <a:solidFill>
            <a:srgbClr val="F5FDF8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486400" y="1298448"/>
            <a:ext cx="3429000" cy="38404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532120" y="13167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AI Smart Agriculture Dashboard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0" y="1792224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577840" y="1792224"/>
            <a:ext cx="1554480" cy="201168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632704" y="181051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632704" y="20299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34.2 %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42048" y="1792224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242048" y="1792224"/>
            <a:ext cx="1554480" cy="201168"/>
          </a:xfrm>
          <a:prstGeom prst="rect">
            <a:avLst/>
          </a:prstGeom>
          <a:solidFill>
            <a:srgbClr val="E651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296912" y="181051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296912" y="20299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 °C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245059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577840" y="2450592"/>
            <a:ext cx="1554480" cy="201168"/>
          </a:xfrm>
          <a:prstGeom prst="rect">
            <a:avLst/>
          </a:prstGeom>
          <a:solidFill>
            <a:srgbClr val="6A1B9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632704" y="246888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632704" y="268833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µS/cm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42048" y="245059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242048" y="2450592"/>
            <a:ext cx="1554480" cy="201168"/>
          </a:xfrm>
          <a:prstGeom prst="rect">
            <a:avLst/>
          </a:prstGeom>
          <a:solidFill>
            <a:srgbClr val="00695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296912" y="246888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296912" y="268833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77840" y="3108960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577840" y="3108960"/>
            <a:ext cx="1554480" cy="201168"/>
          </a:xfrm>
          <a:prstGeom prst="rect">
            <a:avLst/>
          </a:prstGeom>
          <a:solidFill>
            <a:srgbClr val="0D4F2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632704" y="31272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32704" y="334670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Rice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242048" y="3108960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242048" y="3108960"/>
            <a:ext cx="1554480" cy="201168"/>
          </a:xfrm>
          <a:prstGeom prst="rect">
            <a:avLst/>
          </a:prstGeom>
          <a:solidFill>
            <a:srgbClr val="1A7A44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296912" y="312724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296912" y="334670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577840" y="3767328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5577840" y="3767328"/>
            <a:ext cx="1554480" cy="201168"/>
          </a:xfrm>
          <a:prstGeom prst="rect">
            <a:avLst/>
          </a:prstGeom>
          <a:solidFill>
            <a:srgbClr val="1A7A44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632704" y="378561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632704" y="400507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242048" y="3767328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242048" y="3767328"/>
            <a:ext cx="1554480" cy="201168"/>
          </a:xfrm>
          <a:prstGeom prst="rect">
            <a:avLst/>
          </a:prstGeom>
          <a:solidFill>
            <a:srgbClr val="C0392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296912" y="378561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296912" y="400507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 Now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532120" y="464515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Auto-refreshes every 3 seconds via JavaScript fetch()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 System — SIM800L GSM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AI predictions to farmer mobile phones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38912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54864" cy="349300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Delivery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865376"/>
            <a:ext cx="402336" cy="40233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1883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Enters Mobile Number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20665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web dashboard on any browser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6072" y="2267712"/>
            <a:ext cx="18288" cy="8229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84048" y="2350008"/>
            <a:ext cx="402336" cy="40233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4048" y="2350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7824" y="2368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/send_sms Triggered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7824" y="25511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receives mobile number from form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6072" y="2752344"/>
            <a:ext cx="18288" cy="8229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2834640"/>
            <a:ext cx="402336" cy="40233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4048" y="2834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2852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AT+CMGF=1 (Text Mode)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7824" y="30358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module set to SMS text mode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6072" y="3236976"/>
            <a:ext cx="18288" cy="8229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3319272"/>
            <a:ext cx="402336" cy="40233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3319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AT+CMGS="+91XXXXXXXXXX"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" y="3520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phone number sent to SIM800L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6072" y="3721608"/>
            <a:ext cx="18288" cy="8229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84048" y="3803904"/>
            <a:ext cx="402336" cy="40233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4048" y="3803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7824" y="3822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Body Transmitted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7824" y="40050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values + 4 AI predictions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6072" y="4206240"/>
            <a:ext cx="18288" cy="8229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84048" y="4288536"/>
            <a:ext cx="402336" cy="40233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4048" y="4288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7824" y="43068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 (0x1A) → SMS Sent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7824" y="44897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confirmed within 10 seconds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1298448"/>
            <a:ext cx="4023360" cy="3493008"/>
          </a:xfrm>
          <a:prstGeom prst="rect">
            <a:avLst/>
          </a:prstGeom>
          <a:solidFill>
            <a:srgbClr val="F9F0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846320" y="1298448"/>
            <a:ext cx="4023360" cy="38404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919472" y="1316736"/>
            <a:ext cx="3877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SMS Message Preview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47488" y="1810512"/>
            <a:ext cx="363931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166360" y="1901952"/>
            <a:ext cx="3401568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SMART AGRICULTURE RESULT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Moisture    : </a:t>
            </a: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34.2 %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: </a:t>
            </a: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27.8 C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          : </a:t>
            </a: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420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          : </a:t>
            </a: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6.8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Crop        : </a:t>
            </a:r>
            <a:r>
              <a:rPr lang="en-US" sz="950" dirty="0">
                <a:solidFill>
                  <a:srgbClr val="1A7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Rice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Fertility   : </a:t>
            </a:r>
            <a:r>
              <a:rPr lang="en-US" sz="950" dirty="0">
                <a:solidFill>
                  <a:srgbClr val="1A7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Fertilizer  : </a:t>
            </a:r>
            <a:r>
              <a:rPr lang="en-US" sz="950" dirty="0">
                <a:solidFill>
                  <a:srgbClr val="1A7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DAP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Irrigation  : </a:t>
            </a:r>
            <a:r>
              <a:rPr lang="en-US" sz="9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Irrigate Now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System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outcomes across all components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011680" cy="29260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159105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" y="21945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298448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68880" y="1298448"/>
            <a:ext cx="2011680" cy="292608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68880" y="159105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21945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81728" y="1298448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81728" y="1298448"/>
            <a:ext cx="2011680" cy="2926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81728" y="159105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&gt;87%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81728" y="21945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94576" y="1298448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894576" y="1298448"/>
            <a:ext cx="2011680" cy="29260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94576" y="159105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&gt;91%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94576" y="21945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56032" y="2724912"/>
          <a:ext cx="4114800" cy="221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4572000" y="1298448"/>
            <a:ext cx="434340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572000" y="1298448"/>
            <a:ext cx="54864" cy="3639312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773168" y="138988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Metrics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81728" y="1847088"/>
            <a:ext cx="411480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754880" y="1938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Latency (ESP32→Pi)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516368" y="1920240"/>
            <a:ext cx="1170432" cy="3200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516368" y="192024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&lt;500 ms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81728" y="2359152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754880" y="2450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Inference (4 models)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516368" y="2432304"/>
            <a:ext cx="1170432" cy="3200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516368" y="2432304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second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81728" y="2871216"/>
            <a:ext cx="411480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754880" y="2962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Refresh Cycle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516368" y="2944368"/>
            <a:ext cx="1170432" cy="3200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516368" y="2944368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81728" y="3383280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754880" y="3474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Refresh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516368" y="3456432"/>
            <a:ext cx="1170432" cy="3200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7516368" y="345643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 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681728" y="3895344"/>
            <a:ext cx="4114800" cy="475488"/>
          </a:xfrm>
          <a:prstGeom prst="rect">
            <a:avLst/>
          </a:prstGeom>
          <a:solidFill>
            <a:srgbClr val="F0FAF4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4754880" y="39867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Delivery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516368" y="3968496"/>
            <a:ext cx="1170432" cy="3200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7516368" y="3968496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seconds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681728" y="4407408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4754880" y="4498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Error Detection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516368" y="4480560"/>
            <a:ext cx="1170432" cy="320040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7516368" y="448056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 s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681728" y="46451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passed integration testing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A2C3-1D5A-185C-0CFE-C00FE01A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8860EB-1A68-D035-1831-0E4246D44B50}"/>
              </a:ext>
            </a:extLst>
          </p:cNvPr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ADBF62E-62FC-D774-13A3-5891B21C96AF}"/>
              </a:ext>
            </a:extLst>
          </p:cNvPr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277F5D-67A2-3A84-99A7-5D7818941749}"/>
              </a:ext>
            </a:extLst>
          </p:cNvPr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Output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E534783F-89A3-85B9-5F88-87FD2E341B26}"/>
              </a:ext>
            </a:extLst>
          </p:cNvPr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453AD45A-4411-5A36-B489-E0CE3A8036B1}"/>
              </a:ext>
            </a:extLst>
          </p:cNvPr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B2E619D-9966-1B78-C79B-690D5BC67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56994"/>
            <a:ext cx="3539744" cy="235276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3AE88E9-699B-6C8A-E154-E9901AB7994B}"/>
              </a:ext>
            </a:extLst>
          </p:cNvPr>
          <p:cNvSpPr txBox="1"/>
          <p:nvPr/>
        </p:nvSpPr>
        <p:spPr>
          <a:xfrm>
            <a:off x="-168656" y="4061759"/>
            <a:ext cx="4572000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Fig 1. Soil Sensor and ESP-32 Unit</a:t>
            </a:r>
            <a:endParaRPr lang="en-IN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CAA838-1721-04C4-A93D-D970BCE58572}"/>
              </a:ext>
            </a:extLst>
          </p:cNvPr>
          <p:cNvSpPr txBox="1"/>
          <p:nvPr/>
        </p:nvSpPr>
        <p:spPr>
          <a:xfrm>
            <a:off x="4243850" y="4047283"/>
            <a:ext cx="4572000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Fig 2. Raspberry  pi and SIM800L Unit</a:t>
            </a:r>
            <a:endParaRPr lang="en-IN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561EC798-D1B1-AD8F-DD25-1B65AFFB1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850" y="1606683"/>
            <a:ext cx="4516102" cy="228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70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833B-DF22-EF04-6815-C408D08A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A67BB4-B8FE-3811-FFB1-F8DBA0D976F8}"/>
              </a:ext>
            </a:extLst>
          </p:cNvPr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E68CEA-603F-3C80-72CB-2E725BED3BC2}"/>
              </a:ext>
            </a:extLst>
          </p:cNvPr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C4A1D7-D171-7AD1-76FA-412F9FD184FE}"/>
              </a:ext>
            </a:extLst>
          </p:cNvPr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Output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893EC1D7-590E-55DE-13A2-D524508E5B37}"/>
              </a:ext>
            </a:extLst>
          </p:cNvPr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1C12FFCC-F683-F79D-47BC-DE51D7DA0B9F}"/>
              </a:ext>
            </a:extLst>
          </p:cNvPr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BB41C-CD38-3C98-6D62-F5403101FE14}"/>
              </a:ext>
            </a:extLst>
          </p:cNvPr>
          <p:cNvSpPr txBox="1"/>
          <p:nvPr/>
        </p:nvSpPr>
        <p:spPr>
          <a:xfrm>
            <a:off x="2451651" y="4648730"/>
            <a:ext cx="4572000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Fig </a:t>
            </a:r>
            <a:r>
              <a:rPr lang="en-IN" dirty="0">
                <a:latin typeface="Times New Roman" panose="02020603050405020304" pitchFamily="18" charset="0"/>
                <a:ea typeface="Arial" panose="020B0604020202020204" pitchFamily="34" charset="0"/>
              </a:rPr>
              <a:t>3</a:t>
            </a:r>
            <a:r>
              <a:rPr lang="en-IN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. Initialization of ESP-32 Unit</a:t>
            </a:r>
            <a:endParaRPr lang="en-IN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005E3A-6985-4B63-D4BA-E958FEDDE1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62"/>
          <a:stretch>
            <a:fillRect/>
          </a:stretch>
        </p:blipFill>
        <p:spPr>
          <a:xfrm>
            <a:off x="2020958" y="1275835"/>
            <a:ext cx="5301778" cy="337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81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1DDE-03C3-96D2-A478-EE0761BE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8549C7-A356-FB1B-B1B0-F8CD0C8DEF26}"/>
              </a:ext>
            </a:extLst>
          </p:cNvPr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3982B3-62EB-8713-C9F5-169BE63A1B68}"/>
              </a:ext>
            </a:extLst>
          </p:cNvPr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69617F-4C3F-535D-1784-B7EA6668EECA}"/>
              </a:ext>
            </a:extLst>
          </p:cNvPr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Output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A3CA6823-A97D-1824-173B-9B1599AB4CB9}"/>
              </a:ext>
            </a:extLst>
          </p:cNvPr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B226C999-0A8E-FAAB-F4F7-AB019BECE4D8}"/>
              </a:ext>
            </a:extLst>
          </p:cNvPr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F72A90-3EAE-C23D-1A95-15B94E414D68}"/>
              </a:ext>
            </a:extLst>
          </p:cNvPr>
          <p:cNvSpPr txBox="1"/>
          <p:nvPr/>
        </p:nvSpPr>
        <p:spPr>
          <a:xfrm>
            <a:off x="165652" y="1188720"/>
            <a:ext cx="4572000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Sample Output1:</a:t>
            </a:r>
            <a:endParaRPr lang="en-IN" sz="1800" dirty="0">
              <a:solidFill>
                <a:srgbClr val="C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99BB9B-0CCA-7D32-1063-9E281B546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081" y="1563624"/>
            <a:ext cx="6822018" cy="298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51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91BB-29B5-CA71-4A11-F821EB08B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FE105A-C678-256C-19B3-45EC55987D32}"/>
              </a:ext>
            </a:extLst>
          </p:cNvPr>
          <p:cNvSpPr/>
          <p:nvPr/>
        </p:nvSpPr>
        <p:spPr>
          <a:xfrm>
            <a:off x="0" y="0"/>
            <a:ext cx="9144000" cy="717870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5CBA5E-11FA-24B8-800D-33F5DC9E2F43}"/>
              </a:ext>
            </a:extLst>
          </p:cNvPr>
          <p:cNvSpPr/>
          <p:nvPr/>
        </p:nvSpPr>
        <p:spPr>
          <a:xfrm>
            <a:off x="0" y="717870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0749C8-03E0-5130-5200-EC67FC2E1F5A}"/>
              </a:ext>
            </a:extLst>
          </p:cNvPr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Output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44F0A46F-7B5B-323D-AB31-A57EA65C729F}"/>
              </a:ext>
            </a:extLst>
          </p:cNvPr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DFA50E73-69AF-2C8B-7E5F-E813DD31DEA6}"/>
              </a:ext>
            </a:extLst>
          </p:cNvPr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51BC9-9732-85D5-08DF-572A8E7D12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572" y="827598"/>
            <a:ext cx="7159988" cy="40324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05F7EE-DFDF-1C11-1EF8-C658FEAAD758}"/>
              </a:ext>
            </a:extLst>
          </p:cNvPr>
          <p:cNvSpPr txBox="1"/>
          <p:nvPr/>
        </p:nvSpPr>
        <p:spPr>
          <a:xfrm>
            <a:off x="0" y="841380"/>
            <a:ext cx="4572000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Sample Output1:</a:t>
            </a:r>
            <a:endParaRPr lang="en-IN" sz="1800" dirty="0">
              <a:solidFill>
                <a:srgbClr val="C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77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2F431-BC3F-1572-83A4-F5A5DCCB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493083-E205-BEBB-16B6-8AA8CC37569E}"/>
              </a:ext>
            </a:extLst>
          </p:cNvPr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56FFF1-EEFD-891B-A3D4-F7D83501CA99}"/>
              </a:ext>
            </a:extLst>
          </p:cNvPr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30EA2A-C614-4BE1-F113-78C6CADDB7C5}"/>
              </a:ext>
            </a:extLst>
          </p:cNvPr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Output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E7B8D4BA-BD1C-02DA-8247-E0536D79DDFB}"/>
              </a:ext>
            </a:extLst>
          </p:cNvPr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0C99DBA0-F71D-E975-9760-CE7B9CF71B12}"/>
              </a:ext>
            </a:extLst>
          </p:cNvPr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26A47-1D19-5704-FB8D-7B3B20FFA468}"/>
              </a:ext>
            </a:extLst>
          </p:cNvPr>
          <p:cNvSpPr txBox="1"/>
          <p:nvPr/>
        </p:nvSpPr>
        <p:spPr>
          <a:xfrm>
            <a:off x="135437" y="1221668"/>
            <a:ext cx="4572000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Sample Output2:</a:t>
            </a:r>
            <a:endParaRPr lang="en-IN" sz="1800" dirty="0">
              <a:solidFill>
                <a:srgbClr val="C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A5FFDA-2A20-A44E-086B-0830D64CB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46" y="1759226"/>
            <a:ext cx="7810006" cy="278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92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C941-AD5B-E8C2-9EBE-0C65DECF8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7B7D50-BF79-D800-70C9-9330CA97F846}"/>
              </a:ext>
            </a:extLst>
          </p:cNvPr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683959-1937-BCDE-37C6-073ACE950600}"/>
              </a:ext>
            </a:extLst>
          </p:cNvPr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104EEE-F67B-BA31-0387-9E08D8940770}"/>
              </a:ext>
            </a:extLst>
          </p:cNvPr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Output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4255A814-BD74-F284-2FE0-2848A65494B1}"/>
              </a:ext>
            </a:extLst>
          </p:cNvPr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A02A650D-64DC-4DEA-9613-8022393E5B05}"/>
              </a:ext>
            </a:extLst>
          </p:cNvPr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B3A3F-D8CB-8571-5B47-140B05E15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009" y="1217396"/>
            <a:ext cx="6310395" cy="35545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0273FB-D5F9-336B-EA6C-67F90EDF6EF5}"/>
              </a:ext>
            </a:extLst>
          </p:cNvPr>
          <p:cNvSpPr txBox="1"/>
          <p:nvPr/>
        </p:nvSpPr>
        <p:spPr>
          <a:xfrm>
            <a:off x="-18288" y="1185572"/>
            <a:ext cx="4572000" cy="385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Sample Output2:</a:t>
            </a:r>
            <a:endParaRPr lang="en-IN" sz="1800" dirty="0">
              <a:solidFill>
                <a:srgbClr val="C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100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369D6-C7DA-26E0-861E-4DE885C8A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8A238B-3B2C-1B58-3ED5-436E75AD9CFB}"/>
              </a:ext>
            </a:extLst>
          </p:cNvPr>
          <p:cNvSpPr/>
          <p:nvPr/>
        </p:nvSpPr>
        <p:spPr>
          <a:xfrm>
            <a:off x="0" y="0"/>
            <a:ext cx="9144000" cy="78187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3FF8A5-1E66-C3CA-28B4-6064C625D0B9}"/>
              </a:ext>
            </a:extLst>
          </p:cNvPr>
          <p:cNvSpPr/>
          <p:nvPr/>
        </p:nvSpPr>
        <p:spPr>
          <a:xfrm>
            <a:off x="0" y="781878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7B293F-B1EF-5EE4-8D96-55459C622BD1}"/>
              </a:ext>
            </a:extLst>
          </p:cNvPr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88D7AEEE-9EE9-81B2-C3A7-D7ABE7B114D6}"/>
              </a:ext>
            </a:extLst>
          </p:cNvPr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E736B659-6BD4-ABBE-B722-AFF5ED9920FF}"/>
              </a:ext>
            </a:extLst>
          </p:cNvPr>
          <p:cNvSpPr/>
          <p:nvPr/>
        </p:nvSpPr>
        <p:spPr>
          <a:xfrm>
            <a:off x="27432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 — MCA | AI Smart Agriculture | 2025–26</a:t>
            </a:r>
            <a:endParaRPr 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57531-C14A-542B-BFF0-26AB61A21826}"/>
              </a:ext>
            </a:extLst>
          </p:cNvPr>
          <p:cNvSpPr txBox="1"/>
          <p:nvPr/>
        </p:nvSpPr>
        <p:spPr>
          <a:xfrm>
            <a:off x="145774" y="1096218"/>
            <a:ext cx="8832575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solution using open-source hardware and software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IoT sensors, edge computing, machine learning, web dashboard, and SMS alerts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Offline-first design enables deployment in remote agricultural regions with limited internet connectivity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AI-driven recommendations for critical farm management decisions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improve crop yield, optimize resource usage, and support sustainable farming practices</a:t>
            </a:r>
          </a:p>
        </p:txBody>
      </p:sp>
    </p:spTree>
    <p:extLst>
      <p:ext uri="{BB962C8B-B14F-4D97-AF65-F5344CB8AC3E}">
        <p14:creationId xmlns:p14="http://schemas.microsoft.com/office/powerpoint/2010/main" val="3678107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8487"/>
            <a:ext cx="9144000" cy="79552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" y="775657"/>
            <a:ext cx="9144000" cy="64008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456145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directions for expanding the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32688"/>
            <a:ext cx="475488" cy="74980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0058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NPK-Specific Sensors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dedicated N, P, K sensors for granular fertilizer advice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932688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932688"/>
            <a:ext cx="475488" cy="74980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11556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10058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Fusion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21808" y="128016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local weather station for improved irrigation scheduling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1792224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47472" y="1792224"/>
            <a:ext cx="475488" cy="749808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" y="197510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186537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Multispectral Imaging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396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Field-wide soil health maps beyond point measurements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792224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792224"/>
            <a:ext cx="475488" cy="749808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97510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186537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(Android/iOS)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21808" y="21396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Raspberry Pi via Bluetooth/Wi-Fi for farmer 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265176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47472" y="2651760"/>
            <a:ext cx="475488" cy="74980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7472" y="2834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27249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Region-Specific ML Datasets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299923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agro-climatic zone specific crop &amp; soil data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651760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2651760"/>
            <a:ext cx="475488" cy="74980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2834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27249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Logging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21808" y="299923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SQLite/InfluxDB for multi-season soil health trend analysis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" y="3511296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47472" y="3511296"/>
            <a:ext cx="475488" cy="749808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7472" y="369417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4400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Portal Integration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4400" y="38587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with Agri Stack / PM-KISAN for benefit eligibility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511296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54880" y="3511296"/>
            <a:ext cx="475488" cy="749808"/>
          </a:xfrm>
          <a:prstGeom prst="rect">
            <a:avLst/>
          </a:prstGeom>
          <a:solidFill>
            <a:srgbClr val="1A7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0" y="369417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21808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Battery Backup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21808" y="38587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energy-independent 24/7 remote deployment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" y="4370832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347472" y="4370832"/>
            <a:ext cx="475488" cy="74980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47472" y="45537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14400" y="44439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/ ONNX Models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14400" y="471830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on Pi while maintaining offline operation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4370832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754880" y="4370832"/>
            <a:ext cx="475488" cy="749808"/>
          </a:xfrm>
          <a:prstGeom prst="rect">
            <a:avLst/>
          </a:prstGeom>
          <a:solidFill>
            <a:srgbClr val="0D4F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754880" y="45537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321808" y="44439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Deployment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21808" y="471830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Pi aggregating data from multiple ESP32 field units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595360" y="44805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4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A7A44">
              <a:alpha val="40000"/>
            </a:srgbClr>
          </a:solidFill>
          <a:ln w="12700">
            <a:solidFill>
              <a:srgbClr val="1A7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A3D22">
              <a:alpha val="45000"/>
            </a:srgbClr>
          </a:solidFill>
          <a:ln w="12700">
            <a:solidFill>
              <a:srgbClr val="0A3D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4434840"/>
            <a:ext cx="9144000" cy="73152"/>
          </a:xfrm>
          <a:prstGeom prst="rect">
            <a:avLst/>
          </a:prstGeom>
          <a:solidFill>
            <a:srgbClr val="6EE8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1261872"/>
            <a:ext cx="2743200" cy="45720"/>
          </a:xfrm>
          <a:prstGeom prst="rect">
            <a:avLst/>
          </a:prstGeom>
          <a:solidFill>
            <a:srgbClr val="6EE8A2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8229600" cy="320040"/>
          </a:xfrm>
          <a:prstGeom prst="rect">
            <a:avLst/>
          </a:prstGeom>
          <a:solidFill>
            <a:srgbClr val="0A3D22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883664"/>
            <a:ext cx="731520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Offline-first AI — no cloud, no internet needed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 ML models: Crop · Fertility · Fertilizer · Irrigation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Modbus RS485 soil sensor + ESP32 + Raspberry Pi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Web dashboard + SMS alerts for maximum farmer reach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Affordable, scalable, ready for rural India deployment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41648"/>
            <a:ext cx="8229600" cy="320040"/>
          </a:xfrm>
          <a:prstGeom prst="rect">
            <a:avLst/>
          </a:prstGeom>
          <a:solidFill>
            <a:srgbClr val="0A3D22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Pranitha D Salian  ·  Samuel Jesten Serrao  ·  Prathik J Hegde  ·  Sachin Shetty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6908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8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Dr. Chandrakantha T S &amp; Dr. </a:t>
            </a:r>
            <a:r>
              <a:rPr lang="en-US" sz="1600" i="1" dirty="0" err="1">
                <a:solidFill>
                  <a:srgbClr val="A8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Madhwaraj</a:t>
            </a:r>
            <a:r>
              <a:rPr lang="en-US" sz="1600" i="1" dirty="0">
                <a:solidFill>
                  <a:srgbClr val="A8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G (HOD) | MITE — MCA | 2025–26</a:t>
            </a:r>
            <a:endParaRPr lang="en-US" sz="16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114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1797</Words>
  <Application>Microsoft Office PowerPoint</Application>
  <PresentationFormat>On-screen Show (16:9)</PresentationFormat>
  <Paragraphs>408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Consolas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 Agriculture</dc:title>
  <dc:subject>PptxGenJS Presentation</dc:subject>
  <dc:creator>MITE MCA</dc:creator>
  <cp:lastModifiedBy>Chandrakantha T S</cp:lastModifiedBy>
  <cp:revision>7</cp:revision>
  <dcterms:created xsi:type="dcterms:W3CDTF">2026-05-26T21:20:20Z</dcterms:created>
  <dcterms:modified xsi:type="dcterms:W3CDTF">2026-05-31T14:29:12Z</dcterms:modified>
</cp:coreProperties>
</file>