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8" d="100"/>
          <a:sy n="98" d="100"/>
        </p:scale>
        <p:origin x="82" y="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11E"/>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731520"/>
          </a:xfrm>
          <a:prstGeom prst="rect">
            <a:avLst/>
          </a:prstGeom>
          <a:noFill/>
        </p:spPr>
        <p:txBody>
          <a:bodyPr wrap="square">
            <a:spAutoFit/>
          </a:bodyPr>
          <a:lstStyle/>
          <a:p>
            <a:pPr>
              <a:defRPr sz="3600" b="1">
                <a:solidFill>
                  <a:srgbClr val="3B82F6"/>
                </a:solidFill>
                <a:latin typeface="Arial"/>
              </a:defRPr>
            </a:pPr>
            <a:r>
              <a:t>TRUEBIKER</a:t>
            </a:r>
          </a:p>
        </p:txBody>
      </p:sp>
      <p:sp>
        <p:nvSpPr>
          <p:cNvPr id="3" name="TextBox 2"/>
          <p:cNvSpPr txBox="1"/>
          <p:nvPr/>
        </p:nvSpPr>
        <p:spPr>
          <a:xfrm>
            <a:off x="457200" y="1005840"/>
            <a:ext cx="11277295" cy="365760"/>
          </a:xfrm>
          <a:prstGeom prst="rect">
            <a:avLst/>
          </a:prstGeom>
          <a:noFill/>
        </p:spPr>
        <p:txBody>
          <a:bodyPr wrap="square">
            <a:spAutoFit/>
          </a:bodyPr>
          <a:lstStyle/>
          <a:p>
            <a:pPr>
              <a:defRPr sz="1400" b="1" i="1">
                <a:solidFill>
                  <a:srgbClr val="F59E0B"/>
                </a:solidFill>
                <a:latin typeface="Arial"/>
              </a:defRPr>
            </a:pPr>
            <a:r>
              <a:t>Your True Researcher Finding You the Best Bike</a:t>
            </a:r>
          </a:p>
        </p:txBody>
      </p:sp>
      <p:sp>
        <p:nvSpPr>
          <p:cNvPr id="4" name="TextBox 3"/>
          <p:cNvSpPr txBox="1"/>
          <p:nvPr/>
        </p:nvSpPr>
        <p:spPr>
          <a:xfrm>
            <a:off x="457200" y="1645920"/>
            <a:ext cx="3474720" cy="4572000"/>
          </a:xfrm>
          <a:prstGeom prst="rect">
            <a:avLst/>
          </a:prstGeom>
          <a:noFill/>
        </p:spPr>
        <p:txBody>
          <a:bodyPr wrap="square">
            <a:spAutoFit/>
          </a:bodyPr>
          <a:lstStyle/>
          <a:p>
            <a:pPr>
              <a:defRPr sz="1800" b="1">
                <a:solidFill>
                  <a:srgbClr val="3B82F6"/>
                </a:solidFill>
                <a:latin typeface="Arial"/>
              </a:defRPr>
            </a:pPr>
            <a:r>
              <a:t>1. Introduction</a:t>
            </a:r>
          </a:p>
          <a:p>
            <a:endParaRPr/>
          </a:p>
          <a:p>
            <a:pPr>
              <a:lnSpc>
                <a:spcPct val="115000"/>
              </a:lnSpc>
              <a:defRPr sz="1150">
                <a:solidFill>
                  <a:srgbClr val="FFFFFF"/>
                </a:solidFill>
                <a:latin typeface="Arial"/>
              </a:defRPr>
            </a:pPr>
            <a:r>
              <a:t>TrueBiker is an advanced, high-performance motorbike research and matching platform designed to simplify the decision-making process for motorcycling enthusiasts. Traditional search processes force users to manually browse generic specifications sheets and forum reviews, which are often disorganized and lack personalization. TrueBiker introduces a unified system featuring an interactive preference questionnaire and a real-time catalog search engine, utilizing a modern dark theme inspired by professional MotoGP racing aesthetics to deliver a premium user experience.</a:t>
            </a:r>
          </a:p>
        </p:txBody>
      </p:sp>
      <p:sp>
        <p:nvSpPr>
          <p:cNvPr id="5" name="TextBox 4"/>
          <p:cNvSpPr txBox="1"/>
          <p:nvPr/>
        </p:nvSpPr>
        <p:spPr>
          <a:xfrm>
            <a:off x="4343400" y="1645920"/>
            <a:ext cx="3474720" cy="4572000"/>
          </a:xfrm>
          <a:prstGeom prst="rect">
            <a:avLst/>
          </a:prstGeom>
          <a:noFill/>
        </p:spPr>
        <p:txBody>
          <a:bodyPr wrap="square">
            <a:spAutoFit/>
          </a:bodyPr>
          <a:lstStyle/>
          <a:p>
            <a:pPr>
              <a:defRPr sz="1800" b="1">
                <a:solidFill>
                  <a:srgbClr val="F59E0B"/>
                </a:solidFill>
                <a:latin typeface="Arial"/>
              </a:defRPr>
            </a:pPr>
            <a:r>
              <a:t>2. Objectives</a:t>
            </a:r>
          </a:p>
          <a:p>
            <a:endParaRPr/>
          </a:p>
          <a:p>
            <a:pPr>
              <a:lnSpc>
                <a:spcPct val="115000"/>
              </a:lnSpc>
              <a:defRPr sz="1150">
                <a:solidFill>
                  <a:srgbClr val="FFFFFF"/>
                </a:solidFill>
                <a:latin typeface="Arial"/>
              </a:defRPr>
            </a:pPr>
            <a:r>
              <a:t>The primary objectives of this project are to build a highly responsive and secure motorbike research platform that addresses user needs dynamically. This is achieved by implementing secure JSON Web Token (JWT) routes to safeguard user accounts, designing a guest onboarding interest-wizard to capture user preferences from the moment they visit, and constructing a compatibility-matching engine that outputs real-time suitability percentages. Additionally, the project aims to deliver a centralized, filterable superbike database that runs queries in milliseconds without requiring page reloads.</a:t>
            </a:r>
          </a:p>
        </p:txBody>
      </p:sp>
      <p:sp>
        <p:nvSpPr>
          <p:cNvPr id="6" name="TextBox 5"/>
          <p:cNvSpPr txBox="1"/>
          <p:nvPr/>
        </p:nvSpPr>
        <p:spPr>
          <a:xfrm>
            <a:off x="8229600" y="1645920"/>
            <a:ext cx="3474720" cy="4572000"/>
          </a:xfrm>
          <a:prstGeom prst="rect">
            <a:avLst/>
          </a:prstGeom>
          <a:noFill/>
        </p:spPr>
        <p:txBody>
          <a:bodyPr wrap="square">
            <a:spAutoFit/>
          </a:bodyPr>
          <a:lstStyle/>
          <a:p>
            <a:pPr>
              <a:defRPr sz="1800" b="1">
                <a:solidFill>
                  <a:srgbClr val="3B82F6"/>
                </a:solidFill>
                <a:latin typeface="Arial"/>
              </a:defRPr>
            </a:pPr>
            <a:r>
              <a:t>3. Problem Statement</a:t>
            </a:r>
          </a:p>
          <a:p>
            <a:endParaRPr/>
          </a:p>
          <a:p>
            <a:pPr>
              <a:lnSpc>
                <a:spcPct val="115000"/>
              </a:lnSpc>
              <a:defRPr sz="1150">
                <a:solidFill>
                  <a:srgbClr val="FFFFFF"/>
                </a:solidFill>
                <a:latin typeface="Arial"/>
              </a:defRPr>
            </a:pPr>
            <a:r>
              <a:t>Motorcycle buyers face significant challenges when searching for their ideal ride due to the fragmentation of technical data, features, and pricing structures across the internet. Existing search engines are mostly generic and lack dedicated matching algorithms, which leaves buyers overwhelmed by spec sheets and unsure of compatibility. TrueBiker addresses these limitations by providing a dedicated platform that directly correlates riding categories, preferred manufacturers, target budgets, and advanced mechanical features into a single, cohesive compatibility metric.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11E"/>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3B82F6"/>
                </a:solidFill>
                <a:latin typeface="Arial"/>
              </a:defRPr>
            </a:pPr>
            <a:r>
              <a:t>SYSTEM EVOLUTION &amp; PROJECT SCOPE</a:t>
            </a:r>
          </a:p>
        </p:txBody>
      </p:sp>
      <p:sp>
        <p:nvSpPr>
          <p:cNvPr id="3" name="TextBox 2"/>
          <p:cNvSpPr txBox="1"/>
          <p:nvPr/>
        </p:nvSpPr>
        <p:spPr>
          <a:xfrm>
            <a:off x="457200" y="1005840"/>
            <a:ext cx="11277295" cy="365760"/>
          </a:xfrm>
          <a:prstGeom prst="rect">
            <a:avLst/>
          </a:prstGeom>
          <a:noFill/>
        </p:spPr>
        <p:txBody>
          <a:bodyPr wrap="square">
            <a:spAutoFit/>
          </a:bodyPr>
          <a:lstStyle/>
          <a:p>
            <a:pPr>
              <a:defRPr sz="1100" i="1">
                <a:solidFill>
                  <a:srgbClr val="F59E0B"/>
                </a:solidFill>
                <a:latin typeface="Arial"/>
              </a:defRPr>
            </a:pPr>
            <a:r>
              <a:t>Synopsis Sections: 4. Existing System | 5. Proposed System | 6. Scope</a:t>
            </a:r>
          </a:p>
        </p:txBody>
      </p:sp>
      <p:sp>
        <p:nvSpPr>
          <p:cNvPr id="4" name="TextBox 3"/>
          <p:cNvSpPr txBox="1"/>
          <p:nvPr/>
        </p:nvSpPr>
        <p:spPr>
          <a:xfrm>
            <a:off x="685800" y="1645920"/>
            <a:ext cx="10820095" cy="4572000"/>
          </a:xfrm>
          <a:prstGeom prst="rect">
            <a:avLst/>
          </a:prstGeom>
          <a:noFill/>
        </p:spPr>
        <p:txBody>
          <a:bodyPr wrap="square">
            <a:spAutoFit/>
          </a:bodyPr>
          <a:lstStyle/>
          <a:p>
            <a:pPr>
              <a:defRPr sz="1800" b="1">
                <a:solidFill>
                  <a:srgbClr val="F59E0B"/>
                </a:solidFill>
                <a:latin typeface="Arial"/>
              </a:defRPr>
            </a:pPr>
            <a:r>
              <a:t>4. Existing System &amp; Limitations</a:t>
            </a:r>
          </a:p>
          <a:p>
            <a:pPr>
              <a:defRPr sz="1400">
                <a:solidFill>
                  <a:srgbClr val="FFFFFF"/>
                </a:solidFill>
                <a:latin typeface="Arial"/>
              </a:defRPr>
            </a:pPr>
            <a:r>
              <a:t>  • Manual specifications aggregation across disconnected forums and databases.</a:t>
            </a:r>
            <a:br/>
            <a:r>
              <a:t>  • Lacks personalized metric comparison, brand interests, or budget scoring.</a:t>
            </a:r>
            <a:br/>
            <a:r>
              <a:t>  • Traditional interfaces are bicycle-centric or generic, missing motorcycling themes.</a:t>
            </a:r>
          </a:p>
          <a:p>
            <a:endParaRPr/>
          </a:p>
          <a:p>
            <a:pPr>
              <a:defRPr sz="1800" b="1">
                <a:solidFill>
                  <a:srgbClr val="3B82F6"/>
                </a:solidFill>
                <a:latin typeface="Arial"/>
              </a:defRPr>
            </a:pPr>
            <a:r>
              <a:t>5. Proposed System &amp; Advantages</a:t>
            </a:r>
          </a:p>
          <a:p>
            <a:pPr>
              <a:defRPr sz="1400">
                <a:solidFill>
                  <a:srgbClr val="FFFFFF"/>
                </a:solidFill>
                <a:latin typeface="Arial"/>
              </a:defRPr>
            </a:pPr>
            <a:r>
              <a:t>  • Guest Onboarding wizard caches interests and transfers them directly on signup.</a:t>
            </a:r>
            <a:br/>
            <a:r>
              <a:t>  • Custom compatibility logic ranks motorbike matches out of 100%.</a:t>
            </a:r>
            <a:br/>
            <a:r>
              <a:t>  • Features rich glassmorphic dark theme visuals emphasizing high-performance specs.</a:t>
            </a:r>
          </a:p>
          <a:p>
            <a:endParaRPr/>
          </a:p>
          <a:p>
            <a:pPr>
              <a:defRPr sz="1800" b="1">
                <a:solidFill>
                  <a:srgbClr val="F59E0B"/>
                </a:solidFill>
                <a:latin typeface="Arial"/>
              </a:defRPr>
            </a:pPr>
            <a:r>
              <a:t>6. Scope of the Project</a:t>
            </a:r>
          </a:p>
          <a:p>
            <a:pPr>
              <a:defRPr sz="1400">
                <a:solidFill>
                  <a:srgbClr val="FFFFFF"/>
                </a:solidFill>
                <a:latin typeface="Arial"/>
              </a:defRPr>
            </a:pPr>
            <a:r>
              <a:t>  • Geared towards racers, street commuters, and superbike performance buyers.</a:t>
            </a:r>
            <a:br/>
            <a:r>
              <a:t>  • Focuses explicitly on petrol-powered sport/track motorbikes (excluding bicycles/EVs).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11E"/>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3B82F6"/>
                </a:solidFill>
                <a:latin typeface="Arial"/>
              </a:defRPr>
            </a:pPr>
            <a:r>
              <a:t>METHODOLOGY &amp; SYSTEM REQUIREMENTS</a:t>
            </a:r>
          </a:p>
        </p:txBody>
      </p:sp>
      <p:sp>
        <p:nvSpPr>
          <p:cNvPr id="3" name="TextBox 2"/>
          <p:cNvSpPr txBox="1"/>
          <p:nvPr/>
        </p:nvSpPr>
        <p:spPr>
          <a:xfrm>
            <a:off x="457200" y="1005840"/>
            <a:ext cx="11277295" cy="365760"/>
          </a:xfrm>
          <a:prstGeom prst="rect">
            <a:avLst/>
          </a:prstGeom>
          <a:noFill/>
        </p:spPr>
        <p:txBody>
          <a:bodyPr wrap="square">
            <a:spAutoFit/>
          </a:bodyPr>
          <a:lstStyle/>
          <a:p>
            <a:pPr>
              <a:defRPr sz="1100" i="1">
                <a:solidFill>
                  <a:srgbClr val="F59E0B"/>
                </a:solidFill>
                <a:latin typeface="Arial"/>
              </a:defRPr>
            </a:pPr>
            <a:r>
              <a:t>Synopsis Sections: 7. Methodology | 8. Tools Used | 9. System Requirements</a:t>
            </a:r>
          </a:p>
        </p:txBody>
      </p:sp>
      <p:sp>
        <p:nvSpPr>
          <p:cNvPr id="4" name="TextBox 3"/>
          <p:cNvSpPr txBox="1"/>
          <p:nvPr/>
        </p:nvSpPr>
        <p:spPr>
          <a:xfrm>
            <a:off x="685800" y="1645920"/>
            <a:ext cx="10820095" cy="4572000"/>
          </a:xfrm>
          <a:prstGeom prst="rect">
            <a:avLst/>
          </a:prstGeom>
          <a:noFill/>
        </p:spPr>
        <p:txBody>
          <a:bodyPr wrap="square">
            <a:spAutoFit/>
          </a:bodyPr>
          <a:lstStyle/>
          <a:p>
            <a:pPr>
              <a:defRPr sz="1800" b="1">
                <a:solidFill>
                  <a:srgbClr val="F59E0B"/>
                </a:solidFill>
                <a:latin typeface="Arial"/>
              </a:defRPr>
            </a:pPr>
            <a:r>
              <a:t>7. Methodology</a:t>
            </a:r>
          </a:p>
          <a:p>
            <a:pPr>
              <a:defRPr sz="1400">
                <a:solidFill>
                  <a:srgbClr val="FFFFFF"/>
                </a:solidFill>
                <a:latin typeface="Arial"/>
              </a:defRPr>
            </a:pPr>
            <a:r>
              <a:t>  • Agile iterative development cycle: data ingestion -&gt; API security -&gt; frontend states -&gt; client verification.</a:t>
            </a:r>
          </a:p>
          <a:p>
            <a:endParaRPr/>
          </a:p>
          <a:p>
            <a:pPr>
              <a:defRPr sz="1800" b="1">
                <a:solidFill>
                  <a:srgbClr val="3B82F6"/>
                </a:solidFill>
                <a:latin typeface="Arial"/>
              </a:defRPr>
            </a:pPr>
            <a:r>
              <a:t>8. Tools and Technologies Used</a:t>
            </a:r>
          </a:p>
          <a:p>
            <a:pPr>
              <a:defRPr sz="1400">
                <a:solidFill>
                  <a:srgbClr val="FFFFFF"/>
                </a:solidFill>
                <a:latin typeface="Arial"/>
              </a:defRPr>
            </a:pPr>
            <a:r>
              <a:t>  • Front-End Stack: React.js, Tailwind CSS (for styled tags), Framer Motion (animations), Axios.</a:t>
            </a:r>
            <a:br/>
            <a:r>
              <a:t>  • Back-End Stack: Node.js, Express framework, JWT sessions, bcrypt cryptography.</a:t>
            </a:r>
            <a:br/>
            <a:r>
              <a:t>  • Database layer: NeDB (embedded file-based engine storing collections in text format).</a:t>
            </a:r>
          </a:p>
          <a:p>
            <a:endParaRPr/>
          </a:p>
          <a:p>
            <a:pPr>
              <a:defRPr sz="1800" b="1">
                <a:solidFill>
                  <a:srgbClr val="F59E0B"/>
                </a:solidFill>
                <a:latin typeface="Arial"/>
              </a:defRPr>
            </a:pPr>
            <a:r>
              <a:t>9. System Requirements</a:t>
            </a:r>
          </a:p>
          <a:p>
            <a:pPr>
              <a:defRPr sz="1400">
                <a:solidFill>
                  <a:srgbClr val="FFFFFF"/>
                </a:solidFill>
                <a:latin typeface="Arial"/>
              </a:defRPr>
            </a:pPr>
            <a:r>
              <a:t>  • Hardware: Intel/AMD dual-core processor or above, 4GB RAM minimum, 50MB storage.</a:t>
            </a:r>
            <a:br/>
            <a:r>
              <a:t>  • Software: OS Windows 10/11 or Linux, Node.js v16+, and modern standard web browser.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11E"/>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3B82F6"/>
                </a:solidFill>
                <a:latin typeface="Arial"/>
              </a:defRPr>
            </a:pPr>
            <a:r>
              <a:t>SYSTEM MODULE DESCRIPTION</a:t>
            </a:r>
          </a:p>
        </p:txBody>
      </p:sp>
      <p:sp>
        <p:nvSpPr>
          <p:cNvPr id="3" name="TextBox 2"/>
          <p:cNvSpPr txBox="1"/>
          <p:nvPr/>
        </p:nvSpPr>
        <p:spPr>
          <a:xfrm>
            <a:off x="457200" y="1005840"/>
            <a:ext cx="11277295" cy="365760"/>
          </a:xfrm>
          <a:prstGeom prst="rect">
            <a:avLst/>
          </a:prstGeom>
          <a:noFill/>
        </p:spPr>
        <p:txBody>
          <a:bodyPr wrap="square">
            <a:spAutoFit/>
          </a:bodyPr>
          <a:lstStyle/>
          <a:p>
            <a:pPr>
              <a:defRPr sz="1100" i="1">
                <a:solidFill>
                  <a:srgbClr val="F59E0B"/>
                </a:solidFill>
                <a:latin typeface="Arial"/>
              </a:defRPr>
            </a:pPr>
            <a:r>
              <a:t>Synopsis Sections: 10. Module Description</a:t>
            </a:r>
          </a:p>
        </p:txBody>
      </p:sp>
      <p:sp>
        <p:nvSpPr>
          <p:cNvPr id="4" name="TextBox 3"/>
          <p:cNvSpPr txBox="1"/>
          <p:nvPr/>
        </p:nvSpPr>
        <p:spPr>
          <a:xfrm>
            <a:off x="685800" y="1645920"/>
            <a:ext cx="10820095" cy="4572000"/>
          </a:xfrm>
          <a:prstGeom prst="rect">
            <a:avLst/>
          </a:prstGeom>
          <a:noFill/>
        </p:spPr>
        <p:txBody>
          <a:bodyPr wrap="square">
            <a:spAutoFit/>
          </a:bodyPr>
          <a:lstStyle/>
          <a:p>
            <a:endParaRPr/>
          </a:p>
          <a:p>
            <a:pPr>
              <a:defRPr sz="1600" b="1">
                <a:solidFill>
                  <a:srgbClr val="F59E0B"/>
                </a:solidFill>
                <a:latin typeface="Arial"/>
              </a:defRPr>
            </a:pPr>
            <a:r>
              <a:t>Guest Onboarding Module:</a:t>
            </a:r>
          </a:p>
          <a:p>
            <a:pPr>
              <a:defRPr sz="1350">
                <a:solidFill>
                  <a:srgbClr val="FFFFFF"/>
                </a:solidFill>
                <a:latin typeface="Arial"/>
              </a:defRPr>
            </a:pPr>
            <a:r>
              <a:t>  Allows unregistered riders to configure style parameters, price levels, and manufacturers immediately upon landing. Preferences cache in localStorage.</a:t>
            </a:r>
          </a:p>
          <a:p>
            <a:endParaRPr/>
          </a:p>
          <a:p>
            <a:pPr>
              <a:defRPr sz="1600" b="1">
                <a:solidFill>
                  <a:srgbClr val="F59E0B"/>
                </a:solidFill>
                <a:latin typeface="Arial"/>
              </a:defRPr>
            </a:pPr>
            <a:r>
              <a:t>Authentication Module:</a:t>
            </a:r>
          </a:p>
          <a:p>
            <a:pPr>
              <a:defRPr sz="1350">
                <a:solidFill>
                  <a:srgbClr val="FFFFFF"/>
                </a:solidFill>
                <a:latin typeface="Arial"/>
              </a:defRPr>
            </a:pPr>
            <a:r>
              <a:t>  Handles signup registration, hashes credentials using bcrypt, generates JWT tokens, and protects internal dashboard routes.</a:t>
            </a:r>
          </a:p>
          <a:p>
            <a:endParaRPr/>
          </a:p>
          <a:p>
            <a:pPr>
              <a:defRPr sz="1600" b="1">
                <a:solidFill>
                  <a:srgbClr val="F59E0B"/>
                </a:solidFill>
                <a:latin typeface="Arial"/>
              </a:defRPr>
            </a:pPr>
            <a:r>
              <a:t>Motorbike Recommendation Engine:</a:t>
            </a:r>
          </a:p>
          <a:p>
            <a:pPr>
              <a:defRPr sz="1350">
                <a:solidFill>
                  <a:srgbClr val="FFFFFF"/>
                </a:solidFill>
                <a:latin typeface="Arial"/>
              </a:defRPr>
            </a:pPr>
            <a:r>
              <a:t>  Cross-references seeded database attributes (engine CC, price, features) against user specs to yield custom compatibility match scores.</a:t>
            </a:r>
          </a:p>
          <a:p>
            <a:endParaRPr/>
          </a:p>
          <a:p>
            <a:pPr>
              <a:defRPr sz="1600" b="1">
                <a:solidFill>
                  <a:srgbClr val="F59E0B"/>
                </a:solidFill>
                <a:latin typeface="Arial"/>
              </a:defRPr>
            </a:pPr>
            <a:r>
              <a:t>Bike Catalog Search Module:</a:t>
            </a:r>
          </a:p>
          <a:p>
            <a:pPr>
              <a:defRPr sz="1350">
                <a:solidFill>
                  <a:srgbClr val="FFFFFF"/>
                </a:solidFill>
                <a:latin typeface="Arial"/>
              </a:defRPr>
            </a:pPr>
            <a:r>
              <a:t>  Enables users to perform real-time text-queries (e.g. 'Yamaha') and filter bikes dynamically without full page reloads.</a:t>
            </a:r>
          </a:p>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11E"/>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3B82F6"/>
                </a:solidFill>
                <a:latin typeface="Arial"/>
              </a:defRPr>
            </a:pPr>
            <a:r>
              <a:t>OUTCOME, FUTURE SCOPE &amp; REFERENCES</a:t>
            </a:r>
          </a:p>
        </p:txBody>
      </p:sp>
      <p:sp>
        <p:nvSpPr>
          <p:cNvPr id="3" name="TextBox 2"/>
          <p:cNvSpPr txBox="1"/>
          <p:nvPr/>
        </p:nvSpPr>
        <p:spPr>
          <a:xfrm>
            <a:off x="457200" y="1005840"/>
            <a:ext cx="11277295" cy="365760"/>
          </a:xfrm>
          <a:prstGeom prst="rect">
            <a:avLst/>
          </a:prstGeom>
          <a:noFill/>
        </p:spPr>
        <p:txBody>
          <a:bodyPr wrap="square">
            <a:spAutoFit/>
          </a:bodyPr>
          <a:lstStyle/>
          <a:p>
            <a:pPr>
              <a:defRPr sz="1100" i="1">
                <a:solidFill>
                  <a:srgbClr val="F59E0B"/>
                </a:solidFill>
                <a:latin typeface="Arial"/>
              </a:defRPr>
            </a:pPr>
            <a:r>
              <a:t>Synopsis Sections: 11. Outcome | 12. Enhancements | 13. References</a:t>
            </a:r>
          </a:p>
        </p:txBody>
      </p:sp>
      <p:sp>
        <p:nvSpPr>
          <p:cNvPr id="4" name="TextBox 3"/>
          <p:cNvSpPr txBox="1"/>
          <p:nvPr/>
        </p:nvSpPr>
        <p:spPr>
          <a:xfrm>
            <a:off x="685800" y="1645920"/>
            <a:ext cx="10820095" cy="4572000"/>
          </a:xfrm>
          <a:prstGeom prst="rect">
            <a:avLst/>
          </a:prstGeom>
          <a:noFill/>
        </p:spPr>
        <p:txBody>
          <a:bodyPr wrap="square">
            <a:spAutoFit/>
          </a:bodyPr>
          <a:lstStyle/>
          <a:p>
            <a:pPr>
              <a:defRPr sz="1800" b="1">
                <a:solidFill>
                  <a:srgbClr val="F59E0B"/>
                </a:solidFill>
                <a:latin typeface="Arial"/>
              </a:defRPr>
            </a:pPr>
            <a:r>
              <a:t>11. Expected Outcome</a:t>
            </a:r>
          </a:p>
          <a:p>
            <a:pPr>
              <a:defRPr sz="1400">
                <a:solidFill>
                  <a:srgbClr val="FFFFFF"/>
                </a:solidFill>
                <a:latin typeface="Arial"/>
              </a:defRPr>
            </a:pPr>
            <a:r>
              <a:t>  • High-fidelity application delivering instant custom-suited superbikes on first dashboard view.</a:t>
            </a:r>
            <a:br/>
            <a:r>
              <a:t>  • Secured route gates preventing anonymous directory traversal.</a:t>
            </a:r>
          </a:p>
          <a:p>
            <a:endParaRPr/>
          </a:p>
          <a:p>
            <a:pPr>
              <a:defRPr sz="1800" b="1">
                <a:solidFill>
                  <a:srgbClr val="3B82F6"/>
                </a:solidFill>
                <a:latin typeface="Arial"/>
              </a:defRPr>
            </a:pPr>
            <a:r>
              <a:t>12. Future Enhancements</a:t>
            </a:r>
          </a:p>
          <a:p>
            <a:pPr>
              <a:defRPr sz="1400">
                <a:solidFill>
                  <a:srgbClr val="FFFFFF"/>
                </a:solidFill>
                <a:latin typeface="Arial"/>
              </a:defRPr>
            </a:pPr>
            <a:r>
              <a:t>  • Live pricing updates via dealership integration APIs.</a:t>
            </a:r>
            <a:br/>
            <a:r>
              <a:t>  • 'My Garage' profile folder to bookmark and save specific models.</a:t>
            </a:r>
          </a:p>
          <a:p>
            <a:endParaRPr/>
          </a:p>
          <a:p>
            <a:pPr>
              <a:defRPr sz="1800" b="1">
                <a:solidFill>
                  <a:srgbClr val="F59E0B"/>
                </a:solidFill>
                <a:latin typeface="Arial"/>
              </a:defRPr>
            </a:pPr>
            <a:r>
              <a:t>13. References</a:t>
            </a:r>
          </a:p>
          <a:p>
            <a:pPr>
              <a:defRPr sz="1300">
                <a:solidFill>
                  <a:srgbClr val="FFFFFF"/>
                </a:solidFill>
                <a:latin typeface="Arial"/>
              </a:defRPr>
            </a:pPr>
            <a:r>
              <a:t>  • React.js Documentation: https://react.dev</a:t>
            </a:r>
            <a:br/>
            <a:r>
              <a:t>  • Node.js Web Development by David Herron</a:t>
            </a:r>
            <a:br/>
            <a:r>
              <a:t>  • NeDB Engine Repositories: https://github.com/louischatriot/nedb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809</Words>
  <Application>Microsoft Office PowerPoint</Application>
  <PresentationFormat>Widescreen</PresentationFormat>
  <Paragraphs>55</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SACHU</dc:creator>
  <cp:keywords/>
  <dc:description>generated using python-pptx</dc:description>
  <cp:lastModifiedBy>sachin shetty</cp:lastModifiedBy>
  <cp:revision>1</cp:revision>
  <dcterms:created xsi:type="dcterms:W3CDTF">2013-01-27T09:14:16Z</dcterms:created>
  <dcterms:modified xsi:type="dcterms:W3CDTF">2026-05-25T16:43:10Z</dcterms:modified>
  <cp:category/>
</cp:coreProperties>
</file>