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8" d="100"/>
          <a:sy n="98" d="100"/>
        </p:scale>
        <p:origin x="82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chin shetty" userId="e79d3f02dc12d5f8" providerId="LiveId" clId="{2A9C819D-92C6-4880-89B2-727F637C8C72}"/>
    <pc:docChg chg="delSld modSld">
      <pc:chgData name="sachin shetty" userId="e79d3f02dc12d5f8" providerId="LiveId" clId="{2A9C819D-92C6-4880-89B2-727F637C8C72}" dt="2026-09-12T03:46:58.231" v="24" actId="255"/>
      <pc:docMkLst>
        <pc:docMk/>
      </pc:docMkLst>
      <pc:sldChg chg="del">
        <pc:chgData name="sachin shetty" userId="e79d3f02dc12d5f8" providerId="LiveId" clId="{2A9C819D-92C6-4880-89B2-727F637C8C72}" dt="2026-09-12T03:28:36.964" v="0" actId="2696"/>
        <pc:sldMkLst>
          <pc:docMk/>
          <pc:sldMk cId="0" sldId="256"/>
        </pc:sldMkLst>
      </pc:sldChg>
      <pc:sldChg chg="del">
        <pc:chgData name="sachin shetty" userId="e79d3f02dc12d5f8" providerId="LiveId" clId="{2A9C819D-92C6-4880-89B2-727F637C8C72}" dt="2026-09-12T03:28:40.279" v="1" actId="2696"/>
        <pc:sldMkLst>
          <pc:docMk/>
          <pc:sldMk cId="0" sldId="257"/>
        </pc:sldMkLst>
      </pc:sldChg>
      <pc:sldChg chg="modSp mod">
        <pc:chgData name="sachin shetty" userId="e79d3f02dc12d5f8" providerId="LiveId" clId="{2A9C819D-92C6-4880-89B2-727F637C8C72}" dt="2026-09-12T03:32:16.922" v="2" actId="255"/>
        <pc:sldMkLst>
          <pc:docMk/>
          <pc:sldMk cId="0" sldId="258"/>
        </pc:sldMkLst>
        <pc:spChg chg="mod">
          <ac:chgData name="sachin shetty" userId="e79d3f02dc12d5f8" providerId="LiveId" clId="{2A9C819D-92C6-4880-89B2-727F637C8C72}" dt="2026-09-12T03:32:16.922" v="2" actId="255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sachin shetty" userId="e79d3f02dc12d5f8" providerId="LiveId" clId="{2A9C819D-92C6-4880-89B2-727F637C8C72}" dt="2026-09-12T03:44:33.870" v="12" actId="255"/>
        <pc:sldMkLst>
          <pc:docMk/>
          <pc:sldMk cId="0" sldId="259"/>
        </pc:sldMkLst>
        <pc:spChg chg="mod">
          <ac:chgData name="sachin shetty" userId="e79d3f02dc12d5f8" providerId="LiveId" clId="{2A9C819D-92C6-4880-89B2-727F637C8C72}" dt="2026-09-12T03:44:33.870" v="12" actId="255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sachin shetty" userId="e79d3f02dc12d5f8" providerId="LiveId" clId="{2A9C819D-92C6-4880-89B2-727F637C8C72}" dt="2026-09-12T03:44:42.364" v="13" actId="255"/>
        <pc:sldMkLst>
          <pc:docMk/>
          <pc:sldMk cId="0" sldId="260"/>
        </pc:sldMkLst>
        <pc:spChg chg="mod">
          <ac:chgData name="sachin shetty" userId="e79d3f02dc12d5f8" providerId="LiveId" clId="{2A9C819D-92C6-4880-89B2-727F637C8C72}" dt="2026-09-12T03:44:42.364" v="13" actId="255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sachin shetty" userId="e79d3f02dc12d5f8" providerId="LiveId" clId="{2A9C819D-92C6-4880-89B2-727F637C8C72}" dt="2026-09-12T03:44:51.133" v="14" actId="255"/>
        <pc:sldMkLst>
          <pc:docMk/>
          <pc:sldMk cId="0" sldId="261"/>
        </pc:sldMkLst>
        <pc:spChg chg="mod">
          <ac:chgData name="sachin shetty" userId="e79d3f02dc12d5f8" providerId="LiveId" clId="{2A9C819D-92C6-4880-89B2-727F637C8C72}" dt="2026-09-12T03:44:51.133" v="14" actId="255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sachin shetty" userId="e79d3f02dc12d5f8" providerId="LiveId" clId="{2A9C819D-92C6-4880-89B2-727F637C8C72}" dt="2026-09-12T03:45:07.603" v="15" actId="255"/>
        <pc:sldMkLst>
          <pc:docMk/>
          <pc:sldMk cId="0" sldId="262"/>
        </pc:sldMkLst>
        <pc:spChg chg="mod">
          <ac:chgData name="sachin shetty" userId="e79d3f02dc12d5f8" providerId="LiveId" clId="{2A9C819D-92C6-4880-89B2-727F637C8C72}" dt="2026-09-12T03:45:07.603" v="15" actId="255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sachin shetty" userId="e79d3f02dc12d5f8" providerId="LiveId" clId="{2A9C819D-92C6-4880-89B2-727F637C8C72}" dt="2026-09-12T03:45:26.727" v="16" actId="255"/>
        <pc:sldMkLst>
          <pc:docMk/>
          <pc:sldMk cId="0" sldId="263"/>
        </pc:sldMkLst>
        <pc:spChg chg="mod">
          <ac:chgData name="sachin shetty" userId="e79d3f02dc12d5f8" providerId="LiveId" clId="{2A9C819D-92C6-4880-89B2-727F637C8C72}" dt="2026-09-12T03:45:26.727" v="16" actId="255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sachin shetty" userId="e79d3f02dc12d5f8" providerId="LiveId" clId="{2A9C819D-92C6-4880-89B2-727F637C8C72}" dt="2026-09-12T03:45:40.501" v="17" actId="255"/>
        <pc:sldMkLst>
          <pc:docMk/>
          <pc:sldMk cId="0" sldId="264"/>
        </pc:sldMkLst>
        <pc:spChg chg="mod">
          <ac:chgData name="sachin shetty" userId="e79d3f02dc12d5f8" providerId="LiveId" clId="{2A9C819D-92C6-4880-89B2-727F637C8C72}" dt="2026-09-12T03:45:40.501" v="17" actId="255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sachin shetty" userId="e79d3f02dc12d5f8" providerId="LiveId" clId="{2A9C819D-92C6-4880-89B2-727F637C8C72}" dt="2026-09-12T03:45:52.297" v="18" actId="255"/>
        <pc:sldMkLst>
          <pc:docMk/>
          <pc:sldMk cId="0" sldId="265"/>
        </pc:sldMkLst>
        <pc:spChg chg="mod">
          <ac:chgData name="sachin shetty" userId="e79d3f02dc12d5f8" providerId="LiveId" clId="{2A9C819D-92C6-4880-89B2-727F637C8C72}" dt="2026-09-12T03:45:52.297" v="18" actId="255"/>
          <ac:spMkLst>
            <pc:docMk/>
            <pc:sldMk cId="0" sldId="265"/>
            <ac:spMk id="3" creationId="{00000000-0000-0000-0000-000000000000}"/>
          </ac:spMkLst>
        </pc:spChg>
      </pc:sldChg>
      <pc:sldChg chg="modSp mod">
        <pc:chgData name="sachin shetty" userId="e79d3f02dc12d5f8" providerId="LiveId" clId="{2A9C819D-92C6-4880-89B2-727F637C8C72}" dt="2026-09-12T03:46:03.765" v="19" actId="255"/>
        <pc:sldMkLst>
          <pc:docMk/>
          <pc:sldMk cId="0" sldId="266"/>
        </pc:sldMkLst>
        <pc:spChg chg="mod">
          <ac:chgData name="sachin shetty" userId="e79d3f02dc12d5f8" providerId="LiveId" clId="{2A9C819D-92C6-4880-89B2-727F637C8C72}" dt="2026-09-12T03:46:03.765" v="19" actId="255"/>
          <ac:spMkLst>
            <pc:docMk/>
            <pc:sldMk cId="0" sldId="266"/>
            <ac:spMk id="3" creationId="{00000000-0000-0000-0000-000000000000}"/>
          </ac:spMkLst>
        </pc:spChg>
      </pc:sldChg>
      <pc:sldChg chg="modSp mod">
        <pc:chgData name="sachin shetty" userId="e79d3f02dc12d5f8" providerId="LiveId" clId="{2A9C819D-92C6-4880-89B2-727F637C8C72}" dt="2026-09-12T03:46:12.826" v="20" actId="255"/>
        <pc:sldMkLst>
          <pc:docMk/>
          <pc:sldMk cId="0" sldId="267"/>
        </pc:sldMkLst>
        <pc:spChg chg="mod">
          <ac:chgData name="sachin shetty" userId="e79d3f02dc12d5f8" providerId="LiveId" clId="{2A9C819D-92C6-4880-89B2-727F637C8C72}" dt="2026-09-12T03:46:12.826" v="20" actId="255"/>
          <ac:spMkLst>
            <pc:docMk/>
            <pc:sldMk cId="0" sldId="267"/>
            <ac:spMk id="3" creationId="{00000000-0000-0000-0000-000000000000}"/>
          </ac:spMkLst>
        </pc:spChg>
      </pc:sldChg>
      <pc:sldChg chg="modSp mod">
        <pc:chgData name="sachin shetty" userId="e79d3f02dc12d5f8" providerId="LiveId" clId="{2A9C819D-92C6-4880-89B2-727F637C8C72}" dt="2026-09-12T03:46:23.776" v="21" actId="255"/>
        <pc:sldMkLst>
          <pc:docMk/>
          <pc:sldMk cId="0" sldId="268"/>
        </pc:sldMkLst>
        <pc:spChg chg="mod">
          <ac:chgData name="sachin shetty" userId="e79d3f02dc12d5f8" providerId="LiveId" clId="{2A9C819D-92C6-4880-89B2-727F637C8C72}" dt="2026-09-12T03:46:23.776" v="21" actId="255"/>
          <ac:spMkLst>
            <pc:docMk/>
            <pc:sldMk cId="0" sldId="268"/>
            <ac:spMk id="3" creationId="{00000000-0000-0000-0000-000000000000}"/>
          </ac:spMkLst>
        </pc:spChg>
      </pc:sldChg>
      <pc:sldChg chg="modSp mod">
        <pc:chgData name="sachin shetty" userId="e79d3f02dc12d5f8" providerId="LiveId" clId="{2A9C819D-92C6-4880-89B2-727F637C8C72}" dt="2026-09-12T03:46:33.558" v="22" actId="255"/>
        <pc:sldMkLst>
          <pc:docMk/>
          <pc:sldMk cId="0" sldId="269"/>
        </pc:sldMkLst>
        <pc:spChg chg="mod">
          <ac:chgData name="sachin shetty" userId="e79d3f02dc12d5f8" providerId="LiveId" clId="{2A9C819D-92C6-4880-89B2-727F637C8C72}" dt="2026-09-12T03:46:33.558" v="22" actId="255"/>
          <ac:spMkLst>
            <pc:docMk/>
            <pc:sldMk cId="0" sldId="269"/>
            <ac:spMk id="3" creationId="{00000000-0000-0000-0000-000000000000}"/>
          </ac:spMkLst>
        </pc:spChg>
      </pc:sldChg>
      <pc:sldChg chg="modSp mod">
        <pc:chgData name="sachin shetty" userId="e79d3f02dc12d5f8" providerId="LiveId" clId="{2A9C819D-92C6-4880-89B2-727F637C8C72}" dt="2026-09-12T03:46:47.905" v="23" actId="255"/>
        <pc:sldMkLst>
          <pc:docMk/>
          <pc:sldMk cId="0" sldId="270"/>
        </pc:sldMkLst>
        <pc:spChg chg="mod">
          <ac:chgData name="sachin shetty" userId="e79d3f02dc12d5f8" providerId="LiveId" clId="{2A9C819D-92C6-4880-89B2-727F637C8C72}" dt="2026-09-12T03:46:47.905" v="23" actId="255"/>
          <ac:spMkLst>
            <pc:docMk/>
            <pc:sldMk cId="0" sldId="270"/>
            <ac:spMk id="3" creationId="{00000000-0000-0000-0000-000000000000}"/>
          </ac:spMkLst>
        </pc:spChg>
      </pc:sldChg>
      <pc:sldChg chg="modSp mod">
        <pc:chgData name="sachin shetty" userId="e79d3f02dc12d5f8" providerId="LiveId" clId="{2A9C819D-92C6-4880-89B2-727F637C8C72}" dt="2026-09-12T03:46:58.231" v="24" actId="255"/>
        <pc:sldMkLst>
          <pc:docMk/>
          <pc:sldMk cId="0" sldId="271"/>
        </pc:sldMkLst>
        <pc:spChg chg="mod">
          <ac:chgData name="sachin shetty" userId="e79d3f02dc12d5f8" providerId="LiveId" clId="{2A9C819D-92C6-4880-89B2-727F637C8C72}" dt="2026-09-12T03:46:58.231" v="24" actId="255"/>
          <ac:spMkLst>
            <pc:docMk/>
            <pc:sldMk cId="0" sldId="271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Fake Job &amp; Internship Scam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rPr sz="2800" dirty="0"/>
              <a:t>Problem: Students and job seekers encounter fake opportunities designed to collect money or personal information.</a:t>
            </a:r>
          </a:p>
          <a:p>
            <a:pPr>
              <a:spcAft>
                <a:spcPts val="1200"/>
              </a:spcAft>
              <a:defRPr sz="2000"/>
            </a:pPr>
            <a:r>
              <a:rPr sz="2800" dirty="0"/>
              <a:t>Research gap: Job portals mainly focus on listing and matching; automated trust verification is limited.</a:t>
            </a:r>
          </a:p>
          <a:p>
            <a:pPr>
              <a:spcAft>
                <a:spcPts val="1200"/>
              </a:spcAft>
              <a:defRPr sz="2000"/>
            </a:pPr>
            <a:r>
              <a:rPr sz="2800" dirty="0"/>
              <a:t>Proposed solution: AI system that analyzes job text, company details, contacts, salary claims, URLs and posting patterns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Fake Job Detection — System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4965" y="1325880"/>
            <a:ext cx="10789920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rPr sz="2800" dirty="0"/>
              <a:t>Job description: suspicious wording, urgency, unrealistic promises and payment requests.</a:t>
            </a:r>
          </a:p>
          <a:p>
            <a:pPr>
              <a:spcAft>
                <a:spcPts val="1200"/>
              </a:spcAft>
              <a:defRPr sz="2000"/>
            </a:pPr>
            <a:r>
              <a:rPr sz="2800" dirty="0"/>
              <a:t>Company information: company existence, domain details and consistency of organization information.</a:t>
            </a:r>
          </a:p>
          <a:p>
            <a:pPr>
              <a:spcAft>
                <a:spcPts val="1200"/>
              </a:spcAft>
              <a:defRPr sz="2000"/>
            </a:pPr>
            <a:r>
              <a:rPr sz="2800" dirty="0"/>
              <a:t>Contact details: personal email IDs, unusual phone/contact patterns and mismatched domains.</a:t>
            </a:r>
          </a:p>
          <a:p>
            <a:pPr>
              <a:spcAft>
                <a:spcPts val="1200"/>
              </a:spcAft>
              <a:defRPr sz="2000"/>
            </a:pPr>
            <a:r>
              <a:rPr sz="2800" dirty="0"/>
              <a:t>URL analysis: suspicious domains, redirects and known-risk indicators.</a:t>
            </a:r>
          </a:p>
          <a:p>
            <a:pPr>
              <a:spcAft>
                <a:spcPts val="1200"/>
              </a:spcAft>
              <a:defRPr sz="2000"/>
            </a:pPr>
            <a:r>
              <a:rPr sz="2800" dirty="0"/>
              <a:t>Posting patterns: duplicate posts, repeated templates and abnormal frequency.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Fake Job Detection — Output &amp;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rPr sz="2800" dirty="0"/>
              <a:t>Input → Job posting / internship advertisement</a:t>
            </a:r>
          </a:p>
          <a:p>
            <a:pPr>
              <a:spcAft>
                <a:spcPts val="1200"/>
              </a:spcAft>
              <a:defRPr sz="2000"/>
            </a:pPr>
            <a:r>
              <a:rPr sz="2800" dirty="0"/>
              <a:t>Preprocessing → Text cleaning + feature extraction</a:t>
            </a:r>
          </a:p>
          <a:p>
            <a:pPr>
              <a:spcAft>
                <a:spcPts val="1200"/>
              </a:spcAft>
              <a:defRPr sz="2000"/>
            </a:pPr>
            <a:r>
              <a:rPr sz="2800" dirty="0"/>
              <a:t>AI/ML model → Classification and risk estimation</a:t>
            </a:r>
          </a:p>
          <a:p>
            <a:pPr>
              <a:spcAft>
                <a:spcPts val="1200"/>
              </a:spcAft>
              <a:defRPr sz="2000"/>
            </a:pPr>
            <a:r>
              <a:rPr sz="2800" dirty="0"/>
              <a:t>Verification layer → Company, URL and contact checks</a:t>
            </a:r>
          </a:p>
          <a:p>
            <a:pPr>
              <a:spcAft>
                <a:spcPts val="1200"/>
              </a:spcAft>
              <a:defRPr sz="2000"/>
            </a:pPr>
            <a:r>
              <a:rPr sz="2800" dirty="0"/>
              <a:t>Output → Genuine / Suspicious + risk score + reasons + application warning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AI-Based Fraudulent Product Listing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rPr sz="2800" dirty="0"/>
              <a:t>Problem: Online marketplaces may contain misleading or fraudulent listings with unusually low prices or suspicious sellers.</a:t>
            </a:r>
          </a:p>
          <a:p>
            <a:pPr>
              <a:spcAft>
                <a:spcPts val="1200"/>
              </a:spcAft>
              <a:defRPr sz="2000"/>
            </a:pPr>
            <a:r>
              <a:rPr sz="2800" dirty="0"/>
              <a:t>Research gap: Existing approaches often focus on a single factor such as reviews or seller ratings.</a:t>
            </a:r>
          </a:p>
          <a:p>
            <a:pPr>
              <a:spcAft>
                <a:spcPts val="1200"/>
              </a:spcAft>
              <a:defRPr sz="2000"/>
            </a:pPr>
            <a:r>
              <a:rPr sz="2800" dirty="0"/>
              <a:t>Proposed solution: Combine product text, price, seller behavior, reviews, images and listing characteristics.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Fraudulent Product Detection — Key Signals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rPr sz="2800" dirty="0"/>
              <a:t>Product description: misleading claims, suspicious keywords and copied content.</a:t>
            </a:r>
          </a:p>
          <a:p>
            <a:pPr>
              <a:spcAft>
                <a:spcPts val="1200"/>
              </a:spcAft>
              <a:defRPr sz="2000"/>
            </a:pPr>
            <a:r>
              <a:rPr sz="2800" dirty="0"/>
              <a:t>Price: unusually low price compared with expected market price.</a:t>
            </a:r>
          </a:p>
          <a:p>
            <a:pPr>
              <a:spcAft>
                <a:spcPts val="1200"/>
              </a:spcAft>
              <a:defRPr sz="2000"/>
            </a:pPr>
            <a:r>
              <a:rPr sz="2800" dirty="0"/>
              <a:t>Seller information: seller age, ratings, history and behavior.</a:t>
            </a:r>
          </a:p>
          <a:p>
            <a:pPr>
              <a:spcAft>
                <a:spcPts val="1200"/>
              </a:spcAft>
              <a:defRPr sz="2000"/>
            </a:pPr>
            <a:r>
              <a:rPr sz="2800" dirty="0"/>
              <a:t>Reviews/ratings: abnormal ratings, repetitive reviews and suspicious review patterns.</a:t>
            </a:r>
          </a:p>
          <a:p>
            <a:pPr>
              <a:spcAft>
                <a:spcPts val="1200"/>
              </a:spcAft>
              <a:defRPr sz="2000"/>
            </a:pPr>
            <a:r>
              <a:rPr sz="2800" dirty="0"/>
              <a:t>Images &amp; text similarity: reused images, duplicate descriptions and listing-template similarity.</a:t>
            </a:r>
          </a:p>
          <a:p>
            <a:pPr>
              <a:spcAft>
                <a:spcPts val="1200"/>
              </a:spcAft>
              <a:defRPr sz="2000"/>
            </a:pPr>
            <a:r>
              <a:rPr sz="2800" dirty="0"/>
              <a:t>Listing patterns: unusual posting frequency, rapid changes and coordinated activity.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Fraudulent Product Detection — Output &amp;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rPr sz="2800" dirty="0"/>
              <a:t>Input → Product listing</a:t>
            </a:r>
          </a:p>
          <a:p>
            <a:pPr>
              <a:spcAft>
                <a:spcPts val="1200"/>
              </a:spcAft>
              <a:defRPr sz="2000"/>
            </a:pPr>
            <a:r>
              <a:rPr sz="2800" dirty="0"/>
              <a:t>Feature extraction → Text + price + seller + review + image/listing signals</a:t>
            </a:r>
          </a:p>
          <a:p>
            <a:pPr>
              <a:spcAft>
                <a:spcPts val="1200"/>
              </a:spcAft>
              <a:defRPr sz="2000"/>
            </a:pPr>
            <a:r>
              <a:rPr sz="2800" dirty="0"/>
              <a:t>AI/ML model → Fraud probability estimation</a:t>
            </a:r>
          </a:p>
          <a:p>
            <a:pPr>
              <a:spcAft>
                <a:spcPts val="1200"/>
              </a:spcAft>
              <a:defRPr sz="2000"/>
            </a:pPr>
            <a:r>
              <a:rPr sz="2800" dirty="0"/>
              <a:t>Risk engine → Combine model score with rule-based verification</a:t>
            </a:r>
          </a:p>
          <a:p>
            <a:pPr>
              <a:spcAft>
                <a:spcPts val="1200"/>
              </a:spcAft>
              <a:defRPr sz="2000"/>
            </a:pPr>
            <a:r>
              <a:rPr sz="2800" dirty="0"/>
              <a:t>Output → Genuine / Suspicious + fraud probability + suspicious factors + buyer warning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AI-Based Fake Online Review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rPr sz="2800" dirty="0"/>
              <a:t>Problem: Fake reviews can manipulate customers' perception of products, hotels, restaurants and services.</a:t>
            </a:r>
          </a:p>
          <a:p>
            <a:pPr>
              <a:spcAft>
                <a:spcPts val="1200"/>
              </a:spcAft>
              <a:defRPr sz="2000"/>
            </a:pPr>
            <a:r>
              <a:rPr sz="2800" dirty="0"/>
              <a:t>Research gap: Detecting fabricated, coordinated or AI-generated reviews requires more than simple rating analysis.</a:t>
            </a:r>
          </a:p>
          <a:p>
            <a:pPr>
              <a:spcAft>
                <a:spcPts val="1200"/>
              </a:spcAft>
              <a:defRPr sz="2000"/>
            </a:pPr>
            <a:r>
              <a:rPr sz="2800" dirty="0"/>
              <a:t>Proposed solution: Analyze review language together with reviewer behavior, ratings and timing patterns.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Fake Review Detection — Key Signals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5601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rPr sz="2800" dirty="0"/>
              <a:t>Review text: sentiment, unusual phrasing, repetition and excessive promotional language.</a:t>
            </a:r>
          </a:p>
          <a:p>
            <a:pPr>
              <a:spcAft>
                <a:spcPts val="1200"/>
              </a:spcAft>
              <a:defRPr sz="2000"/>
            </a:pPr>
            <a:r>
              <a:rPr sz="2800" dirty="0"/>
              <a:t>Similarity: repeated or highly similar reviews across products or businesses.</a:t>
            </a:r>
          </a:p>
          <a:p>
            <a:pPr>
              <a:spcAft>
                <a:spcPts val="1200"/>
              </a:spcAft>
              <a:defRPr sz="2000"/>
            </a:pPr>
            <a:r>
              <a:rPr sz="2800" dirty="0"/>
              <a:t>Rating patterns: extreme ratings, rating bursts and mismatch between text and rating.</a:t>
            </a:r>
          </a:p>
          <a:p>
            <a:pPr>
              <a:spcAft>
                <a:spcPts val="1200"/>
              </a:spcAft>
              <a:defRPr sz="2000"/>
            </a:pPr>
            <a:r>
              <a:rPr sz="2800" dirty="0"/>
              <a:t>Reviewer behavior: review frequency, activity concentration and unusual account patterns.</a:t>
            </a:r>
          </a:p>
          <a:p>
            <a:pPr>
              <a:spcAft>
                <a:spcPts val="1200"/>
              </a:spcAft>
              <a:defRPr sz="2000"/>
            </a:pPr>
            <a:r>
              <a:rPr sz="2800" dirty="0"/>
              <a:t>Timing patterns: sudden clusters of reviews within short periods.</a:t>
            </a:r>
          </a:p>
          <a:p>
            <a:pPr>
              <a:spcAft>
                <a:spcPts val="1200"/>
              </a:spcAft>
              <a:defRPr sz="2000"/>
            </a:pPr>
            <a:r>
              <a:rPr sz="2800" dirty="0"/>
              <a:t>AI-generated language: repetitive structures and stylistic signals that may indicate generated content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Fake Review Detection — Output &amp;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rPr sz="2800" dirty="0"/>
              <a:t>Input → Review + reviewer/rating metadata</a:t>
            </a:r>
          </a:p>
          <a:p>
            <a:pPr>
              <a:spcAft>
                <a:spcPts val="1200"/>
              </a:spcAft>
              <a:defRPr sz="2000"/>
            </a:pPr>
            <a:r>
              <a:rPr sz="2800" dirty="0"/>
              <a:t>NLP processing → Text representation, sentiment and similarity features</a:t>
            </a:r>
          </a:p>
          <a:p>
            <a:pPr>
              <a:spcAft>
                <a:spcPts val="1200"/>
              </a:spcAft>
              <a:defRPr sz="2000"/>
            </a:pPr>
            <a:r>
              <a:rPr sz="2800" dirty="0"/>
              <a:t>Behavior analysis → Timing, frequency and rating patterns</a:t>
            </a:r>
          </a:p>
          <a:p>
            <a:pPr>
              <a:spcAft>
                <a:spcPts val="1200"/>
              </a:spcAft>
              <a:defRPr sz="2000"/>
            </a:pPr>
            <a:r>
              <a:rPr sz="2800" dirty="0"/>
              <a:t>AI/ML model → Genuine / Suspicious classification</a:t>
            </a:r>
          </a:p>
          <a:p>
            <a:pPr>
              <a:spcAft>
                <a:spcPts val="1200"/>
              </a:spcAft>
              <a:defRPr sz="2000"/>
            </a:pPr>
            <a:r>
              <a:rPr sz="2800" dirty="0"/>
              <a:t>Output → Fake-review probability + reasons + overall trust score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Comparison of the 3 Ideas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rPr sz="2800" dirty="0"/>
              <a:t>Fake Job Detection — Best for: cybersecurity + NLP + web verification; strong real-world safety impact.</a:t>
            </a:r>
          </a:p>
          <a:p>
            <a:pPr>
              <a:spcAft>
                <a:spcPts val="1200"/>
              </a:spcAft>
              <a:defRPr sz="2000"/>
            </a:pPr>
            <a:r>
              <a:rPr sz="2800" dirty="0"/>
              <a:t>Fraudulent Product Detection — Best for: AI + e-commerce + multimodal analysis; broader feature set.</a:t>
            </a:r>
          </a:p>
          <a:p>
            <a:pPr>
              <a:spcAft>
                <a:spcPts val="1200"/>
              </a:spcAft>
              <a:defRPr sz="2000"/>
            </a:pPr>
            <a:r>
              <a:rPr sz="2800" dirty="0"/>
              <a:t>Fake Review Detection — Best for: NLP + behavioral analytics; comparatively easier to prototype with public datasets.</a:t>
            </a:r>
          </a:p>
          <a:p>
            <a:pPr>
              <a:spcAft>
                <a:spcPts val="1200"/>
              </a:spcAft>
              <a:defRPr sz="2000"/>
            </a:pPr>
            <a:r>
              <a:rPr sz="2800" dirty="0"/>
              <a:t>All three can use a hybrid architecture: ML prediction + explainable rules + risk scoring.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Common Proposed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rPr sz="2800" dirty="0"/>
              <a:t>Data Collection → Public datasets / permitted marketplace or job data</a:t>
            </a:r>
          </a:p>
          <a:p>
            <a:pPr>
              <a:spcAft>
                <a:spcPts val="1200"/>
              </a:spcAft>
              <a:defRPr sz="2000"/>
            </a:pPr>
            <a:r>
              <a:rPr sz="2800" dirty="0"/>
              <a:t>Preprocessing → Text cleaning, normalization and feature extraction</a:t>
            </a:r>
          </a:p>
          <a:p>
            <a:pPr>
              <a:spcAft>
                <a:spcPts val="1200"/>
              </a:spcAft>
              <a:defRPr sz="2000"/>
            </a:pPr>
            <a:r>
              <a:rPr sz="2800" dirty="0"/>
              <a:t>Feature Layer → NLP + metadata + behavioral + verification signals</a:t>
            </a:r>
          </a:p>
          <a:p>
            <a:pPr>
              <a:spcAft>
                <a:spcPts val="1200"/>
              </a:spcAft>
              <a:defRPr sz="2000"/>
            </a:pPr>
            <a:r>
              <a:rPr sz="2800" dirty="0"/>
              <a:t>Detection Model → Classification / probability prediction</a:t>
            </a:r>
          </a:p>
          <a:p>
            <a:pPr>
              <a:spcAft>
                <a:spcPts val="1200"/>
              </a:spcAft>
              <a:defRPr sz="2000"/>
            </a:pPr>
            <a:r>
              <a:rPr sz="2800" dirty="0"/>
              <a:t>Explainability Layer → Identify the signals that increased risk</a:t>
            </a:r>
          </a:p>
          <a:p>
            <a:pPr>
              <a:spcAft>
                <a:spcPts val="1200"/>
              </a:spcAft>
              <a:defRPr sz="2000"/>
            </a:pPr>
            <a:r>
              <a:rPr sz="2800" dirty="0"/>
              <a:t>User Interface → Risk score, classification, reasons and warning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Possible Technologies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rPr sz="2800" dirty="0"/>
              <a:t>Frontend: React / HTML-CSS-JavaScript</a:t>
            </a:r>
          </a:p>
          <a:p>
            <a:pPr>
              <a:spcAft>
                <a:spcPts val="1200"/>
              </a:spcAft>
              <a:defRPr sz="2000"/>
            </a:pPr>
            <a:r>
              <a:rPr sz="2800" dirty="0"/>
              <a:t>Backend: Python + Flask or </a:t>
            </a:r>
            <a:r>
              <a:rPr sz="2800" dirty="0" err="1"/>
              <a:t>FastAPI</a:t>
            </a:r>
            <a:endParaRPr sz="2800" dirty="0"/>
          </a:p>
          <a:p>
            <a:pPr>
              <a:spcAft>
                <a:spcPts val="1200"/>
              </a:spcAft>
              <a:defRPr sz="2000"/>
            </a:pPr>
            <a:r>
              <a:rPr sz="2800" dirty="0"/>
              <a:t>Machine Learning: scikit-learn; optional </a:t>
            </a:r>
            <a:r>
              <a:rPr sz="2800" dirty="0" err="1"/>
              <a:t>XGBoost</a:t>
            </a:r>
            <a:r>
              <a:rPr sz="2800" dirty="0"/>
              <a:t>/</a:t>
            </a:r>
            <a:r>
              <a:rPr sz="2800" dirty="0" err="1"/>
              <a:t>LightGBM</a:t>
            </a:r>
            <a:endParaRPr sz="2800" dirty="0"/>
          </a:p>
          <a:p>
            <a:pPr>
              <a:spcAft>
                <a:spcPts val="1200"/>
              </a:spcAft>
              <a:defRPr sz="2000"/>
            </a:pPr>
            <a:r>
              <a:rPr sz="2800" dirty="0"/>
              <a:t>NLP: TF-IDF, embeddings, transformer models</a:t>
            </a:r>
          </a:p>
          <a:p>
            <a:pPr>
              <a:spcAft>
                <a:spcPts val="1200"/>
              </a:spcAft>
              <a:defRPr sz="2000"/>
            </a:pPr>
            <a:r>
              <a:rPr sz="2800" dirty="0"/>
              <a:t>Database: MySQL / PostgreSQL / MongoDB</a:t>
            </a:r>
          </a:p>
          <a:p>
            <a:pPr>
              <a:spcAft>
                <a:spcPts val="1200"/>
              </a:spcAft>
              <a:defRPr sz="2000"/>
            </a:pPr>
            <a:r>
              <a:rPr sz="2800" dirty="0"/>
              <a:t>Optional verification: URL/domain APIs, company databases and permitted external data sources</a:t>
            </a:r>
          </a:p>
          <a:p>
            <a:pPr>
              <a:spcAft>
                <a:spcPts val="1200"/>
              </a:spcAft>
              <a:defRPr sz="2000"/>
            </a:pPr>
            <a:r>
              <a:rPr sz="2800" dirty="0"/>
              <a:t>Visualization: risk dashboard with explanations and confidence indicators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Evaluation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rPr sz="2800" dirty="0"/>
              <a:t>Accuracy — overall classification performance.</a:t>
            </a:r>
          </a:p>
          <a:p>
            <a:pPr>
              <a:spcAft>
                <a:spcPts val="1200"/>
              </a:spcAft>
              <a:defRPr sz="2000"/>
            </a:pPr>
            <a:r>
              <a:rPr sz="2800" dirty="0"/>
              <a:t>Precision — how many flagged items are actually suspicious.</a:t>
            </a:r>
          </a:p>
          <a:p>
            <a:pPr>
              <a:spcAft>
                <a:spcPts val="1200"/>
              </a:spcAft>
              <a:defRPr sz="2000"/>
            </a:pPr>
            <a:r>
              <a:rPr sz="2800" dirty="0"/>
              <a:t>Recall — how many suspicious items the system successfully detects.</a:t>
            </a:r>
          </a:p>
          <a:p>
            <a:pPr>
              <a:spcAft>
                <a:spcPts val="1200"/>
              </a:spcAft>
              <a:defRPr sz="2000"/>
            </a:pPr>
            <a:r>
              <a:rPr sz="2800" dirty="0"/>
              <a:t>F1-score — balance between precision and recall.</a:t>
            </a:r>
          </a:p>
          <a:p>
            <a:pPr>
              <a:spcAft>
                <a:spcPts val="1200"/>
              </a:spcAft>
              <a:defRPr sz="2000"/>
            </a:pPr>
            <a:r>
              <a:rPr sz="2800" dirty="0"/>
              <a:t>ROC-AUC / PR-AUC — useful for probability-based risk scoring.</a:t>
            </a:r>
          </a:p>
          <a:p>
            <a:pPr>
              <a:spcAft>
                <a:spcPts val="1200"/>
              </a:spcAft>
              <a:defRPr sz="2000"/>
            </a:pPr>
            <a:r>
              <a:rPr sz="2800" dirty="0"/>
              <a:t>Explainability — whether the system can clearly identify the factors behind a warning.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357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rPr sz="2800" dirty="0"/>
              <a:t>These three projects address practical trust and fraud problems using AI.</a:t>
            </a:r>
          </a:p>
          <a:p>
            <a:pPr>
              <a:spcAft>
                <a:spcPts val="1200"/>
              </a:spcAft>
              <a:defRPr sz="2000"/>
            </a:pPr>
            <a:r>
              <a:rPr sz="2800" dirty="0"/>
              <a:t>The strongest research contribution is combining multiple signals rather than relying on a single feature.</a:t>
            </a:r>
          </a:p>
          <a:p>
            <a:pPr>
              <a:spcAft>
                <a:spcPts val="1200"/>
              </a:spcAft>
              <a:defRPr sz="2000"/>
            </a:pPr>
            <a:r>
              <a:rPr sz="2800" dirty="0"/>
              <a:t>A useful final system should not only classify content but also explain the reasons for suspicion.</a:t>
            </a:r>
          </a:p>
          <a:p>
            <a:pPr>
              <a:spcAft>
                <a:spcPts val="1200"/>
              </a:spcAft>
              <a:defRPr sz="2000"/>
            </a:pPr>
            <a:r>
              <a:rPr sz="2800" dirty="0"/>
              <a:t>Recommended final output: an interactive dashboard showing classification, probability/risk score, evidence and user warning.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917</Words>
  <Application>Microsoft Office PowerPoint</Application>
  <PresentationFormat>Widescreen</PresentationFormat>
  <Paragraphs>82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sachin shetty</cp:lastModifiedBy>
  <cp:revision>1</cp:revision>
  <dcterms:created xsi:type="dcterms:W3CDTF">2013-01-27T09:14:16Z</dcterms:created>
  <dcterms:modified xsi:type="dcterms:W3CDTF">2026-09-12T03:47:04Z</dcterms:modified>
  <cp:category/>
</cp:coreProperties>
</file>