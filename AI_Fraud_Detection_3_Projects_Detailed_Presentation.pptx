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25880"/>
            <a:ext cx="107899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/>
            </a:pPr>
            <a:r>
              <a:t>AI-Based Fraud Detection Systems</a:t>
            </a:r>
          </a:p>
          <a:p>
            <a:pPr>
              <a:defRPr sz="2700"/>
            </a:pPr>
            <a:r>
              <a:t>Three Major Project Proposals</a:t>
            </a:r>
          </a:p>
          <a:p>
            <a:pPr>
              <a:defRPr sz="2100"/>
            </a:pPr>
            <a:r>
              <a:t>Fake Jobs • Fraudulent Products • Fake Reviews</a:t>
            </a:r>
          </a:p>
          <a:p>
            <a:pPr>
              <a:defRPr sz="1800"/>
            </a:pPr>
            <a:r>
              <a:t>Major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Online platforms increasingly face scams, fraudulent listings and manipulated reviews.</a:t>
            </a:r>
          </a:p>
          <a:p>
            <a:pPr>
              <a:spcAft>
                <a:spcPts val="1000"/>
              </a:spcAft>
              <a:defRPr sz="1900"/>
            </a:pPr>
            <a:r>
              <a:t>Users often have to make trust decisions with incomplete or misleading information.</a:t>
            </a:r>
          </a:p>
          <a:p>
            <a:pPr>
              <a:spcAft>
                <a:spcPts val="1000"/>
              </a:spcAft>
              <a:defRPr sz="1900"/>
            </a:pPr>
            <a:r>
              <a:t>AI can combine text, behavioral, pricing and verification signals to estimate risk.</a:t>
            </a:r>
          </a:p>
          <a:p>
            <a:pPr>
              <a:spcAft>
                <a:spcPts val="1000"/>
              </a:spcAft>
              <a:defRPr sz="1900"/>
            </a:pPr>
            <a:r>
              <a:t>Goal: build explainable systems that warn users before they make a risky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Fake jobs can target students and job seekers with payment or personal-data scams.</a:t>
            </a:r>
          </a:p>
          <a:p>
            <a:pPr>
              <a:spcAft>
                <a:spcPts val="1000"/>
              </a:spcAft>
              <a:defRPr sz="1900"/>
            </a:pPr>
            <a:r>
              <a:t>Fraudulent product listings can use unrealistic prices, copied content and suspicious sellers.</a:t>
            </a:r>
          </a:p>
          <a:p>
            <a:pPr>
              <a:spcAft>
                <a:spcPts val="1000"/>
              </a:spcAft>
              <a:defRPr sz="1900"/>
            </a:pPr>
            <a:r>
              <a:t>Fake reviews can manipulate customers through coordinated or fabricated feedback.</a:t>
            </a:r>
          </a:p>
          <a:p>
            <a:pPr>
              <a:spcAft>
                <a:spcPts val="1000"/>
              </a:spcAft>
              <a:defRPr sz="1900"/>
            </a:pPr>
            <a:r>
              <a:t>A common research direction is multi-signal fraud detection with explainable risk scores.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Project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Project 1 — AI-Based Fake Job &amp; Internship Scam Detection</a:t>
            </a:r>
          </a:p>
          <a:p>
            <a:pPr>
              <a:spcAft>
                <a:spcPts val="1000"/>
              </a:spcAft>
              <a:defRPr sz="1900"/>
            </a:pPr>
            <a:r>
              <a:t>Project 2 — AI-Based Fraudulent Product Listing Detection</a:t>
            </a:r>
          </a:p>
          <a:p>
            <a:pPr>
              <a:spcAft>
                <a:spcPts val="1000"/>
              </a:spcAft>
              <a:defRPr sz="1900"/>
            </a:pPr>
            <a:r>
              <a:t>Project 3 — AI-Based Fake Online Review Detection</a:t>
            </a:r>
          </a:p>
          <a:p>
            <a:pPr>
              <a:spcAft>
                <a:spcPts val="1000"/>
              </a:spcAft>
              <a:defRPr sz="1900"/>
            </a:pPr>
            <a:r>
              <a:t>All three support the same core pattern: Input → Feature Extraction → AI Model → Risk Score → Explanation → Warning.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Project 1 — Fake Job &amp; Internship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Problem: fake advertisements may request money, sensitive information or direct users to unsafe contacts/websites.</a:t>
            </a:r>
          </a:p>
          <a:p>
            <a:pPr>
              <a:spcAft>
                <a:spcPts val="1000"/>
              </a:spcAft>
              <a:defRPr sz="1900"/>
            </a:pPr>
            <a:r>
              <a:t>Research gap: job portals prioritize listing and matching; automated trust assessment can be strengthened.</a:t>
            </a:r>
          </a:p>
          <a:p>
            <a:pPr>
              <a:spcAft>
                <a:spcPts val="1000"/>
              </a:spcAft>
              <a:defRPr sz="1900"/>
            </a:pPr>
            <a:r>
              <a:t>Proposed system: analyze job wording, company information, contact details, salary claims, URLs and posting patterns.</a:t>
            </a:r>
          </a:p>
          <a:p>
            <a:pPr>
              <a:spcAft>
                <a:spcPts val="1000"/>
              </a:spcAft>
              <a:defRPr sz="1900"/>
            </a:pPr>
            <a:r>
              <a:t>Output: Genuine / Suspicious, risk score, reasons and application warning.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Fake Job —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Text: urgency, unrealistic promises, vague role descriptions and suspicious payment language.</a:t>
            </a:r>
          </a:p>
          <a:p>
            <a:pPr>
              <a:spcAft>
                <a:spcPts val="1000"/>
              </a:spcAft>
              <a:defRPr sz="1900"/>
            </a:pPr>
            <a:r>
              <a:t>Company: organization identity, domain consistency and available company information.</a:t>
            </a:r>
          </a:p>
          <a:p>
            <a:pPr>
              <a:spcAft>
                <a:spcPts val="1000"/>
              </a:spcAft>
              <a:defRPr sz="1900"/>
            </a:pPr>
            <a:r>
              <a:t>Contact: personal email domains, phone/contact anomalies and mismatched organization details.</a:t>
            </a:r>
          </a:p>
          <a:p>
            <a:pPr>
              <a:spcAft>
                <a:spcPts val="1000"/>
              </a:spcAft>
              <a:defRPr sz="1900"/>
            </a:pPr>
            <a:r>
              <a:t>URL: domain reputation indicators, suspicious redirects and unusual URL characteristics.</a:t>
            </a:r>
          </a:p>
          <a:p>
            <a:pPr>
              <a:spcAft>
                <a:spcPts val="1000"/>
              </a:spcAft>
              <a:defRPr sz="1900"/>
            </a:pPr>
            <a:r>
              <a:t>Posting behavior: duplicates, repeated templates and abnormal posting frequency.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Fake Job —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Collect labeled genuine and scam job/internship advertisements.</a:t>
            </a:r>
          </a:p>
          <a:p>
            <a:pPr>
              <a:spcAft>
                <a:spcPts val="1000"/>
              </a:spcAft>
              <a:defRPr sz="1900"/>
            </a:pPr>
            <a:r>
              <a:t>Preprocess text and extract linguistic, metadata and verification features.</a:t>
            </a:r>
          </a:p>
          <a:p>
            <a:pPr>
              <a:spcAft>
                <a:spcPts val="1000"/>
              </a:spcAft>
              <a:defRPr sz="1900"/>
            </a:pPr>
            <a:r>
              <a:t>Train a classifier such as Logistic Regression, Random Forest, XGBoost or a transformer-based model.</a:t>
            </a:r>
          </a:p>
          <a:p>
            <a:pPr>
              <a:spcAft>
                <a:spcPts val="1000"/>
              </a:spcAft>
              <a:defRPr sz="1900"/>
            </a:pPr>
            <a:r>
              <a:t>Combine ML prediction with rule-based checks for company/contact/URL indicators.</a:t>
            </a:r>
          </a:p>
          <a:p>
            <a:pPr>
              <a:spcAft>
                <a:spcPts val="1000"/>
              </a:spcAft>
              <a:defRPr sz="1900"/>
            </a:pPr>
            <a:r>
              <a:t>Generate risk score and human-readable explanations.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Fake Job —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Job Advertisement → Text &amp; Metadata Extraction → NLP Features</a:t>
            </a:r>
          </a:p>
          <a:p>
            <a:pPr>
              <a:spcAft>
                <a:spcPts val="1000"/>
              </a:spcAft>
              <a:defRPr sz="1900"/>
            </a:pPr>
            <a:r>
              <a:t>Company / Contact / URL Checks → Feature Fusion → ML Classifier</a:t>
            </a:r>
          </a:p>
          <a:p>
            <a:pPr>
              <a:spcAft>
                <a:spcPts val="1000"/>
              </a:spcAft>
              <a:defRPr sz="1900"/>
            </a:pPr>
            <a:r>
              <a:t>→ Risk Probability → Suspicious Factors → User Warning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Project 2 — Fraudulent Product Listing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Problem: marketplaces may contain misleading or fraudulent listings using low prices, copied descriptions or suspicious seller behavior.</a:t>
            </a:r>
          </a:p>
          <a:p>
            <a:pPr>
              <a:spcAft>
                <a:spcPts val="1000"/>
              </a:spcAft>
              <a:defRPr sz="1900"/>
            </a:pPr>
            <a:r>
              <a:t>Research gap: many approaches emphasize only seller ratings, reviews or price rather than combining multiple signals.</a:t>
            </a:r>
          </a:p>
          <a:p>
            <a:pPr>
              <a:spcAft>
                <a:spcPts val="1000"/>
              </a:spcAft>
              <a:defRPr sz="1900"/>
            </a:pPr>
            <a:r>
              <a:t>Proposed system: evaluate description, price, seller history, reviews, images and listing behavior.</a:t>
            </a:r>
          </a:p>
          <a:p>
            <a:pPr>
              <a:spcAft>
                <a:spcPts val="1000"/>
              </a:spcAft>
              <a:defRPr sz="1900"/>
            </a:pPr>
            <a:r>
              <a:t>Output: Genuine / Suspicious, fraud probability, suspicious factors and buyer warning.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Product —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Description: suspicious keywords, exaggerated claims and duplicated/copy-pasted text.</a:t>
            </a:r>
          </a:p>
          <a:p>
            <a:pPr>
              <a:spcAft>
                <a:spcPts val="1000"/>
              </a:spcAft>
              <a:defRPr sz="1900"/>
            </a:pPr>
            <a:r>
              <a:t>Price: deviation from expected market price and unusually large discounts.</a:t>
            </a:r>
          </a:p>
          <a:p>
            <a:pPr>
              <a:spcAft>
                <a:spcPts val="1000"/>
              </a:spcAft>
              <a:defRPr sz="1900"/>
            </a:pPr>
            <a:r>
              <a:t>Seller: account age, ratings, sales history and behavioral patterns.</a:t>
            </a:r>
          </a:p>
          <a:p>
            <a:pPr>
              <a:spcAft>
                <a:spcPts val="1000"/>
              </a:spcAft>
              <a:defRPr sz="1900"/>
            </a:pPr>
            <a:r>
              <a:t>Reviews: abnormal ratings, repetitive reviews and unusual review timing.</a:t>
            </a:r>
          </a:p>
          <a:p>
            <a:pPr>
              <a:spcAft>
                <a:spcPts val="1000"/>
              </a:spcAft>
              <a:defRPr sz="1900"/>
            </a:pPr>
            <a:r>
              <a:t>Images/Text: duplicate images, similar descriptions and listing-template similarity.</a:t>
            </a:r>
          </a:p>
          <a:p>
            <a:pPr>
              <a:spcAft>
                <a:spcPts val="1000"/>
              </a:spcAft>
              <a:defRPr sz="1900"/>
            </a:pPr>
            <a:r>
              <a:t>Listing patterns: rapid changes, repeated products and abnormal posting activity.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Product —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Collect product listings with appropriate labels or proxy fraud indicators.</a:t>
            </a:r>
          </a:p>
          <a:p>
            <a:pPr>
              <a:spcAft>
                <a:spcPts val="1000"/>
              </a:spcAft>
              <a:defRPr sz="1900"/>
            </a:pPr>
            <a:r>
              <a:t>Normalize price and extract seller, review, text and image features.</a:t>
            </a:r>
          </a:p>
          <a:p>
            <a:pPr>
              <a:spcAft>
                <a:spcPts val="1000"/>
              </a:spcAft>
              <a:defRPr sz="1900"/>
            </a:pPr>
            <a:r>
              <a:t>Use NLP similarity and optional computer-vision/image embeddings.</a:t>
            </a:r>
          </a:p>
          <a:p>
            <a:pPr>
              <a:spcAft>
                <a:spcPts val="1000"/>
              </a:spcAft>
              <a:defRPr sz="1900"/>
            </a:pPr>
            <a:r>
              <a:t>Train a classification or anomaly-detection model.</a:t>
            </a:r>
          </a:p>
          <a:p>
            <a:pPr>
              <a:spcAft>
                <a:spcPts val="1000"/>
              </a:spcAft>
              <a:defRPr sz="1900"/>
            </a:pPr>
            <a:r>
              <a:t>Fuse model probability with business rules and produce an explainable fraud score.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Product —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Product Listing → Text / Price / Seller / Review / Image Extraction</a:t>
            </a:r>
          </a:p>
          <a:p>
            <a:pPr>
              <a:spcAft>
                <a:spcPts val="1000"/>
              </a:spcAft>
              <a:defRPr sz="1900"/>
            </a:pPr>
            <a:r>
              <a:t>→ Feature Engineering → ML / Anomaly Model → Fraud Probability</a:t>
            </a:r>
          </a:p>
          <a:p>
            <a:pPr>
              <a:spcAft>
                <a:spcPts val="1000"/>
              </a:spcAft>
              <a:defRPr sz="1900"/>
            </a:pPr>
            <a:r>
              <a:t>→ Suspicious Factors → Buyer Warning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Project 3 — Fake Online Review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Problem: fabricated or coordinated reviews can manipulate customer trust in products, hotels, restaurants and services.</a:t>
            </a:r>
          </a:p>
          <a:p>
            <a:pPr>
              <a:spcAft>
                <a:spcPts val="1000"/>
              </a:spcAft>
              <a:defRPr sz="1900"/>
            </a:pPr>
            <a:r>
              <a:t>Research gap: text-only detection misses reviewer behavior and coordinated timing/rating patterns.</a:t>
            </a:r>
          </a:p>
          <a:p>
            <a:pPr>
              <a:spcAft>
                <a:spcPts val="1000"/>
              </a:spcAft>
              <a:defRPr sz="1900"/>
            </a:pPr>
            <a:r>
              <a:t>Proposed system: combine NLP analysis with reviewer, rating, similarity and temporal signals.</a:t>
            </a:r>
          </a:p>
          <a:p>
            <a:pPr>
              <a:spcAft>
                <a:spcPts val="1000"/>
              </a:spcAft>
              <a:defRPr sz="1900"/>
            </a:pPr>
            <a:r>
              <a:t>Output: Genuine / Suspicious, fake-review probability, reasons and overall trust score.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Fake Review —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Text: sentiment, repetition, unusual promotional language and linguistic patterns.</a:t>
            </a:r>
          </a:p>
          <a:p>
            <a:pPr>
              <a:spcAft>
                <a:spcPts val="1000"/>
              </a:spcAft>
              <a:defRPr sz="1900"/>
            </a:pPr>
            <a:r>
              <a:t>Similarity: near-duplicate reviews across products or businesses.</a:t>
            </a:r>
          </a:p>
          <a:p>
            <a:pPr>
              <a:spcAft>
                <a:spcPts val="1000"/>
              </a:spcAft>
              <a:defRPr sz="1900"/>
            </a:pPr>
            <a:r>
              <a:t>Ratings: extreme ratings, rating bursts and text-rating inconsistency.</a:t>
            </a:r>
          </a:p>
          <a:p>
            <a:pPr>
              <a:spcAft>
                <a:spcPts val="1000"/>
              </a:spcAft>
              <a:defRPr sz="1900"/>
            </a:pPr>
            <a:r>
              <a:t>Reviewer behavior: review frequency, concentration and unusual activity.</a:t>
            </a:r>
          </a:p>
          <a:p>
            <a:pPr>
              <a:spcAft>
                <a:spcPts val="1000"/>
              </a:spcAft>
              <a:defRPr sz="1900"/>
            </a:pPr>
            <a:r>
              <a:t>Timing: clusters of reviews in short periods.</a:t>
            </a:r>
          </a:p>
          <a:p>
            <a:pPr>
              <a:spcAft>
                <a:spcPts val="1000"/>
              </a:spcAft>
              <a:defRPr sz="1900"/>
            </a:pPr>
            <a:r>
              <a:t>Generated/repetitive language: stylistic signals associated with templated or machine-generated content.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Fake Review —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Collect review datasets containing labels or reliable proxy labels.</a:t>
            </a:r>
          </a:p>
          <a:p>
            <a:pPr>
              <a:spcAft>
                <a:spcPts val="1000"/>
              </a:spcAft>
              <a:defRPr sz="1900"/>
            </a:pPr>
            <a:r>
              <a:t>Preprocess review text and generate TF-IDF/embedding representations.</a:t>
            </a:r>
          </a:p>
          <a:p>
            <a:pPr>
              <a:spcAft>
                <a:spcPts val="1000"/>
              </a:spcAft>
              <a:defRPr sz="1900"/>
            </a:pPr>
            <a:r>
              <a:t>Extract reviewer, rating and timestamp features.</a:t>
            </a:r>
          </a:p>
          <a:p>
            <a:pPr>
              <a:spcAft>
                <a:spcPts val="1000"/>
              </a:spcAft>
              <a:defRPr sz="1900"/>
            </a:pPr>
            <a:r>
              <a:t>Use similarity analysis to detect repeated or coordinated content.</a:t>
            </a:r>
          </a:p>
          <a:p>
            <a:pPr>
              <a:spcAft>
                <a:spcPts val="1000"/>
              </a:spcAft>
              <a:defRPr sz="1900"/>
            </a:pPr>
            <a:r>
              <a:t>Train a classifier and produce probability plus explanation.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Fake Review —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Review + Metadata → NLP Processing → Text/Sentiment/Similarity Features</a:t>
            </a:r>
          </a:p>
          <a:p>
            <a:pPr>
              <a:spcAft>
                <a:spcPts val="1000"/>
              </a:spcAft>
              <a:defRPr sz="1900"/>
            </a:pPr>
            <a:r>
              <a:t>→ Reviewer &amp; Rating Behavior → Temporal Analysis → ML Model</a:t>
            </a:r>
          </a:p>
          <a:p>
            <a:pPr>
              <a:spcAft>
                <a:spcPts val="1000"/>
              </a:spcAft>
              <a:defRPr sz="1900"/>
            </a:pPr>
            <a:r>
              <a:t>→ Fake Probability → Reasons → Trust Score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16. Comparative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Fake Job: strong cybersecurity and web-verification angle; highly relevant to students/job seekers.</a:t>
            </a:r>
          </a:p>
          <a:p>
            <a:pPr>
              <a:spcAft>
                <a:spcPts val="1000"/>
              </a:spcAft>
              <a:defRPr sz="1900"/>
            </a:pPr>
            <a:r>
              <a:t>Fraudulent Product: strongest e-commerce angle; potentially supports multimodal AI.</a:t>
            </a:r>
          </a:p>
          <a:p>
            <a:pPr>
              <a:spcAft>
                <a:spcPts val="1000"/>
              </a:spcAft>
              <a:defRPr sz="1900"/>
            </a:pPr>
            <a:r>
              <a:t>Fake Review: strongest NLP/behavioral analytics angle; generally easier to prototype with public review datasets.</a:t>
            </a:r>
          </a:p>
          <a:p>
            <a:pPr>
              <a:spcAft>
                <a:spcPts val="1000"/>
              </a:spcAft>
              <a:defRPr sz="1900"/>
            </a:pPr>
            <a:r>
              <a:t>Selection should depend on dataset availability, project duration, implementation complexity and desired research contribution.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17. Common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Data Collection Layer → Dataset/API/Permitted Sources</a:t>
            </a:r>
          </a:p>
          <a:p>
            <a:pPr>
              <a:spcAft>
                <a:spcPts val="1000"/>
              </a:spcAft>
              <a:defRPr sz="1900"/>
            </a:pPr>
            <a:r>
              <a:t>Preprocessing Layer → Cleaning, normalization and missing-data handling</a:t>
            </a:r>
          </a:p>
          <a:p>
            <a:pPr>
              <a:spcAft>
                <a:spcPts val="1000"/>
              </a:spcAft>
              <a:defRPr sz="1900"/>
            </a:pPr>
            <a:r>
              <a:t>Feature Layer → NLP + metadata + behavioral + verification signals</a:t>
            </a:r>
          </a:p>
          <a:p>
            <a:pPr>
              <a:spcAft>
                <a:spcPts val="1000"/>
              </a:spcAft>
              <a:defRPr sz="1900"/>
            </a:pPr>
            <a:r>
              <a:t>Detection Layer → Classification / anomaly detection / probability estimation</a:t>
            </a:r>
          </a:p>
          <a:p>
            <a:pPr>
              <a:spcAft>
                <a:spcPts val="1000"/>
              </a:spcAft>
              <a:defRPr sz="1900"/>
            </a:pPr>
            <a:r>
              <a:t>Explainability Layer → Top suspicious factors and confidence</a:t>
            </a:r>
          </a:p>
          <a:p>
            <a:pPr>
              <a:spcAft>
                <a:spcPts val="1000"/>
              </a:spcAft>
              <a:defRPr sz="1900"/>
            </a:pPr>
            <a:r>
              <a:t>Application Layer → Dashboard + warning + detailed evidence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18. AI/ML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Baseline: TF-IDF + Logistic Regression / Naive Bayes.</a:t>
            </a:r>
          </a:p>
          <a:p>
            <a:pPr>
              <a:spcAft>
                <a:spcPts val="1000"/>
              </a:spcAft>
              <a:defRPr sz="1900"/>
            </a:pPr>
            <a:r>
              <a:t>Tree models: Random Forest, XGBoost or LightGBM for mixed features.</a:t>
            </a:r>
          </a:p>
          <a:p>
            <a:pPr>
              <a:spcAft>
                <a:spcPts val="1000"/>
              </a:spcAft>
              <a:defRPr sz="1900"/>
            </a:pPr>
            <a:r>
              <a:t>Advanced NLP: transformer embeddings or fine-tuned language models.</a:t>
            </a:r>
          </a:p>
          <a:p>
            <a:pPr>
              <a:spcAft>
                <a:spcPts val="1000"/>
              </a:spcAft>
              <a:defRPr sz="1900"/>
            </a:pPr>
            <a:r>
              <a:t>Similarity: cosine similarity / embedding similarity for duplicate content.</a:t>
            </a:r>
          </a:p>
          <a:p>
            <a:pPr>
              <a:spcAft>
                <a:spcPts val="1000"/>
              </a:spcAft>
              <a:defRPr sz="1900"/>
            </a:pPr>
            <a:r>
              <a:t>Anomaly detection: Isolation Forest or related methods when labels are limited.</a:t>
            </a:r>
          </a:p>
          <a:p>
            <a:pPr>
              <a:spcAft>
                <a:spcPts val="1000"/>
              </a:spcAft>
              <a:defRPr sz="1900"/>
            </a:pPr>
            <a:r>
              <a:t>Hybrid model: ML probability + rule-based risk indicators.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19.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Frontend: React or HTML/CSS/JavaScript.</a:t>
            </a:r>
          </a:p>
          <a:p>
            <a:pPr>
              <a:spcAft>
                <a:spcPts val="1000"/>
              </a:spcAft>
              <a:defRPr sz="1900"/>
            </a:pPr>
            <a:r>
              <a:t>Backend: Python with Flask or FastAPI.</a:t>
            </a:r>
          </a:p>
          <a:p>
            <a:pPr>
              <a:spcAft>
                <a:spcPts val="1000"/>
              </a:spcAft>
              <a:defRPr sz="1900"/>
            </a:pPr>
            <a:r>
              <a:t>ML/NLP: scikit-learn, pandas, NumPy and transformer libraries where appropriate.</a:t>
            </a:r>
          </a:p>
          <a:p>
            <a:pPr>
              <a:spcAft>
                <a:spcPts val="1000"/>
              </a:spcAft>
              <a:defRPr sz="1900"/>
            </a:pPr>
            <a:r>
              <a:t>Database: MySQL, PostgreSQL or MongoDB.</a:t>
            </a:r>
          </a:p>
          <a:p>
            <a:pPr>
              <a:spcAft>
                <a:spcPts val="1000"/>
              </a:spcAft>
              <a:defRPr sz="1900"/>
            </a:pPr>
            <a:r>
              <a:t>Visualization: interactive risk dashboard and feature explanations.</a:t>
            </a:r>
          </a:p>
          <a:p>
            <a:pPr>
              <a:spcAft>
                <a:spcPts val="1000"/>
              </a:spcAft>
              <a:defRPr sz="1900"/>
            </a:pPr>
            <a:r>
              <a:t>Optional integrations: permitted URL/domain, company or marketplace data sources.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20. Dataset &amp; Data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Use public datasets wherever possible and document their source and limitations.</a:t>
            </a:r>
          </a:p>
          <a:p>
            <a:pPr>
              <a:spcAft>
                <a:spcPts val="1000"/>
              </a:spcAft>
              <a:defRPr sz="1900"/>
            </a:pPr>
            <a:r>
              <a:t>Create a standardized schema for text, metadata, labels and timestamps.</a:t>
            </a:r>
          </a:p>
          <a:p>
            <a:pPr>
              <a:spcAft>
                <a:spcPts val="1000"/>
              </a:spcAft>
              <a:defRPr sz="1900"/>
            </a:pPr>
            <a:r>
              <a:t>Handle class imbalance using suitable sampling, class weights or threshold tuning.</a:t>
            </a:r>
          </a:p>
          <a:p>
            <a:pPr>
              <a:spcAft>
                <a:spcPts val="1000"/>
              </a:spcAft>
              <a:defRPr sz="1900"/>
            </a:pPr>
            <a:r>
              <a:t>Keep training and testing data separated to avoid leakage.</a:t>
            </a:r>
          </a:p>
          <a:p>
            <a:pPr>
              <a:spcAft>
                <a:spcPts val="1000"/>
              </a:spcAft>
              <a:defRPr sz="1900"/>
            </a:pPr>
            <a:r>
              <a:t>For behavioral tasks, ensure time/user-level splits where necessary.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21. 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Accuracy: overall correctness.</a:t>
            </a:r>
          </a:p>
          <a:p>
            <a:pPr>
              <a:spcAft>
                <a:spcPts val="1000"/>
              </a:spcAft>
              <a:defRPr sz="1900"/>
            </a:pPr>
            <a:r>
              <a:t>Precision: reliability of suspicious flags.</a:t>
            </a:r>
          </a:p>
          <a:p>
            <a:pPr>
              <a:spcAft>
                <a:spcPts val="1000"/>
              </a:spcAft>
              <a:defRPr sz="1900"/>
            </a:pPr>
            <a:r>
              <a:t>Recall: ability to detect suspicious cases.</a:t>
            </a:r>
          </a:p>
          <a:p>
            <a:pPr>
              <a:spcAft>
                <a:spcPts val="1000"/>
              </a:spcAft>
              <a:defRPr sz="1900"/>
            </a:pPr>
            <a:r>
              <a:t>F1-score: balance between precision and recall.</a:t>
            </a:r>
          </a:p>
          <a:p>
            <a:pPr>
              <a:spcAft>
                <a:spcPts val="1000"/>
              </a:spcAft>
              <a:defRPr sz="1900"/>
            </a:pPr>
            <a:r>
              <a:t>ROC-AUC / PR-AUC: evaluate probability ranking, especially with imbalance.</a:t>
            </a:r>
          </a:p>
          <a:p>
            <a:pPr>
              <a:spcAft>
                <a:spcPts val="1000"/>
              </a:spcAft>
              <a:defRPr sz="1900"/>
            </a:pPr>
            <a:r>
              <a:t>Explainability: verify that warnings correspond to understandable evidence.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22. Expected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Automatically classify online content into Genuine and Suspicious categories.</a:t>
            </a:r>
          </a:p>
          <a:p>
            <a:pPr>
              <a:spcAft>
                <a:spcPts val="1000"/>
              </a:spcAft>
              <a:defRPr sz="1900"/>
            </a:pPr>
            <a:r>
              <a:t>Provide a probability/risk score rather than relying only on a binary label.</a:t>
            </a:r>
          </a:p>
          <a:p>
            <a:pPr>
              <a:spcAft>
                <a:spcPts val="1000"/>
              </a:spcAft>
              <a:defRPr sz="1900"/>
            </a:pPr>
            <a:r>
              <a:t>Show the main factors contributing to the warning.</a:t>
            </a:r>
          </a:p>
          <a:p>
            <a:pPr>
              <a:spcAft>
                <a:spcPts val="1000"/>
              </a:spcAft>
              <a:defRPr sz="1900"/>
            </a:pPr>
            <a:r>
              <a:t>Help users make safer decisions before applying, buying or trusting a review.</a:t>
            </a:r>
          </a:p>
          <a:p>
            <a:pPr>
              <a:spcAft>
                <a:spcPts val="1000"/>
              </a:spcAft>
              <a:defRPr sz="1900"/>
            </a:pPr>
            <a:r>
              <a:t>Demonstrate measurable improvement over simple single-feature baselines.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23. Limitations &amp; Ethical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Fraud patterns evolve, so models require monitoring and periodic retraining.</a:t>
            </a:r>
          </a:p>
          <a:p>
            <a:pPr>
              <a:spcAft>
                <a:spcPts val="1000"/>
              </a:spcAft>
              <a:defRPr sz="1900"/>
            </a:pPr>
            <a:r>
              <a:t>False positives can unfairly affect legitimate employers, sellers or reviewers.</a:t>
            </a:r>
          </a:p>
          <a:p>
            <a:pPr>
              <a:spcAft>
                <a:spcPts val="1000"/>
              </a:spcAft>
              <a:defRPr sz="1900"/>
            </a:pPr>
            <a:r>
              <a:t>Public data may contain bias, missing fields or imperfect labels.</a:t>
            </a:r>
          </a:p>
          <a:p>
            <a:pPr>
              <a:spcAft>
                <a:spcPts val="1000"/>
              </a:spcAft>
              <a:defRPr sz="1900"/>
            </a:pPr>
            <a:r>
              <a:t>Personal data should be minimized, protected and processed only when necessary.</a:t>
            </a:r>
          </a:p>
          <a:p>
            <a:pPr>
              <a:spcAft>
                <a:spcPts val="1000"/>
              </a:spcAft>
              <a:defRPr sz="1900"/>
            </a:pPr>
            <a:r>
              <a:t>The system should provide decision support, not claim absolute certainty.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24.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Real-time browser extension that warns users while browsing.</a:t>
            </a:r>
          </a:p>
          <a:p>
            <a:pPr>
              <a:spcAft>
                <a:spcPts val="1000"/>
              </a:spcAft>
              <a:defRPr sz="1900"/>
            </a:pPr>
            <a:r>
              <a:t>Continuous monitoring of new scam/fraud patterns.</a:t>
            </a:r>
          </a:p>
          <a:p>
            <a:pPr>
              <a:spcAft>
                <a:spcPts val="1000"/>
              </a:spcAft>
              <a:defRPr sz="1900"/>
            </a:pPr>
            <a:r>
              <a:t>Multilingual detection for regional platforms.</a:t>
            </a:r>
          </a:p>
          <a:p>
            <a:pPr>
              <a:spcAft>
                <a:spcPts val="1000"/>
              </a:spcAft>
              <a:defRPr sz="1900"/>
            </a:pPr>
            <a:r>
              <a:t>Advanced multimodal models combining text and images.</a:t>
            </a:r>
          </a:p>
          <a:p>
            <a:pPr>
              <a:spcAft>
                <a:spcPts val="1000"/>
              </a:spcAft>
              <a:defRPr sz="1900"/>
            </a:pPr>
            <a:r>
              <a:t>Graph-based detection of coordinated sellers, reviewers or postings.</a:t>
            </a:r>
          </a:p>
          <a:p>
            <a:pPr>
              <a:spcAft>
                <a:spcPts val="1000"/>
              </a:spcAft>
              <a:defRPr sz="1900"/>
            </a:pPr>
            <a:r>
              <a:t>Human-in-the-loop feedback to improve the model.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25. Recommended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Best overall research balance: Fake Job &amp; Internship Scam Detection.</a:t>
            </a:r>
          </a:p>
          <a:p>
            <a:pPr>
              <a:spcAft>
                <a:spcPts val="1000"/>
              </a:spcAft>
              <a:defRPr sz="1900"/>
            </a:pPr>
            <a:r>
              <a:t>Best e-commerce + multimodal opportunity: Fraudulent Product Listing Detection.</a:t>
            </a:r>
          </a:p>
          <a:p>
            <a:pPr>
              <a:spcAft>
                <a:spcPts val="1000"/>
              </a:spcAft>
              <a:defRPr sz="1900"/>
            </a:pPr>
            <a:r>
              <a:t>Best NLP-focused and relatively straightforward prototype: Fake Online Review Detection.</a:t>
            </a:r>
          </a:p>
          <a:p>
            <a:pPr>
              <a:spcAft>
                <a:spcPts val="1000"/>
              </a:spcAft>
              <a:defRPr sz="1900"/>
            </a:pPr>
            <a:r>
              <a:t>Final selection should be based on the dataset you can obtain reliably and the features you can validate.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26.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AI can improve trust and safety by combining multiple fraud signals.</a:t>
            </a:r>
          </a:p>
          <a:p>
            <a:pPr>
              <a:spcAft>
                <a:spcPts val="1000"/>
              </a:spcAft>
              <a:defRPr sz="1900"/>
            </a:pPr>
            <a:r>
              <a:t>The key research contribution is not only classification, but explainable multi-signal risk assessment.</a:t>
            </a:r>
          </a:p>
          <a:p>
            <a:pPr>
              <a:spcAft>
                <a:spcPts val="1000"/>
              </a:spcAft>
              <a:defRPr sz="1900"/>
            </a:pPr>
            <a:r>
              <a:t>Each proposed project can become a complete major project with a dataset, ML model, backend API and interactive dashboard.</a:t>
            </a:r>
          </a:p>
          <a:p>
            <a:pPr>
              <a:spcAft>
                <a:spcPts val="1000"/>
              </a:spcAft>
              <a:defRPr sz="1900"/>
            </a:pPr>
            <a:r>
              <a:t>Success should be measured using both predictive performance and usefulness of the explanations.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27.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Questions &amp; Discussion</a:t>
            </a:r>
          </a:p>
          <a:p>
            <a:pPr>
              <a:spcAft>
                <a:spcPts val="1000"/>
              </a:spcAft>
              <a:defRPr sz="1900"/>
            </a:pPr>
            <a:r>
              <a:t>Possible next step: select one project and finalize the problem statement, objectives, literature survey, dataset and implementation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