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4" r:id="rId10"/>
    <p:sldId id="265" r:id="rId11"/>
    <p:sldId id="274" r:id="rId12"/>
    <p:sldId id="276" r:id="rId13"/>
    <p:sldId id="263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C975E-F9F5-4505-8376-CF13EAF3141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6448D-4960-4B07-B0B3-55998B042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8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448D-4960-4B07-B0B3-55998B0422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6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00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8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71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35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8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83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97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8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58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0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315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76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44658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079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948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788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8408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46000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337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2000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9286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6399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8271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775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610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810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4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43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rPr dirty="0"/>
              <a:t>TRUEBIKER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939" y="2023943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EA5E9"/>
                </a:solidFill>
              </a:defRPr>
            </a:pPr>
            <a:r>
              <a:t>Bike Researcher for Riders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4140" y="3636408"/>
            <a:ext cx="3166316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rPr sz="1600" dirty="0"/>
              <a:t>Team Members</a:t>
            </a:r>
          </a:p>
          <a:p>
            <a:pPr algn="ctr">
              <a:defRPr sz="1700" b="0">
                <a:solidFill>
                  <a:srgbClr val="F8FAFC"/>
                </a:solidFill>
              </a:defRPr>
            </a:pPr>
            <a:r>
              <a:rPr dirty="0"/>
              <a:t>Sachin Shetty </a:t>
            </a:r>
            <a:r>
              <a:rPr lang="en-US" dirty="0"/>
              <a:t> </a:t>
            </a:r>
            <a:r>
              <a:rPr dirty="0"/>
              <a:t> 4MT25MC077</a:t>
            </a:r>
          </a:p>
          <a:p>
            <a:pPr algn="ctr">
              <a:defRPr sz="1700" b="0">
                <a:solidFill>
                  <a:srgbClr val="F8FAFC"/>
                </a:solidFill>
              </a:defRPr>
            </a:pPr>
            <a:r>
              <a:rPr dirty="0" err="1"/>
              <a:t>Saidarshan</a:t>
            </a:r>
            <a:r>
              <a:rPr dirty="0"/>
              <a:t> Shetty </a:t>
            </a:r>
            <a:r>
              <a:rPr lang="en-US" dirty="0"/>
              <a:t> </a:t>
            </a:r>
            <a:r>
              <a:rPr dirty="0"/>
              <a:t> 4MT25MC078</a:t>
            </a:r>
          </a:p>
          <a:p>
            <a:pPr algn="ctr">
              <a:defRPr sz="800" b="0">
                <a:solidFill>
                  <a:srgbClr val="F8FAFC"/>
                </a:solidFill>
              </a:defRPr>
            </a:pPr>
            <a:endParaRPr dirty="0"/>
          </a:p>
          <a:p>
            <a:pPr algn="ctr">
              <a:defRPr sz="1700" b="0">
                <a:solidFill>
                  <a:srgbClr val="F8FAFC"/>
                </a:solidFill>
              </a:defRPr>
            </a:pPr>
            <a:r>
              <a:rPr dirty="0"/>
              <a:t>Guide: Shwetha V Bhat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Department of MCA • MITE •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56094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A centralized motorcycle research and recommendation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577840" cy="3824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The motorcycle market contains many models with </a:t>
            </a:r>
            <a:r>
              <a:rPr sz="2000" u="sng" dirty="0"/>
              <a:t>different prices, specifications and riding characteristics.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Users often depend on </a:t>
            </a:r>
            <a:r>
              <a:rPr sz="2000" u="sng" dirty="0"/>
              <a:t>multiple websites, reviews and videos before choosing a bike.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TrueBiker</a:t>
            </a:r>
            <a:r>
              <a:rPr sz="2000" dirty="0"/>
              <a:t> </a:t>
            </a:r>
            <a:r>
              <a:rPr sz="2000" u="sng" dirty="0"/>
              <a:t>combines research, filtering, comparison and personalized recommendations in one platform.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The system matches </a:t>
            </a:r>
            <a:r>
              <a:rPr sz="2000" u="sng" dirty="0"/>
              <a:t>riding type, budget, mileage, brand, reliability</a:t>
            </a:r>
            <a:r>
              <a:rPr sz="2000" dirty="0"/>
              <a:t> and other preferences with motorcycle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08760"/>
            <a:ext cx="46634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0" y="1508760"/>
            <a:ext cx="64008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76414" y="1644812"/>
            <a:ext cx="1198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9" y="2075688"/>
            <a:ext cx="4076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Help riders move from searching for bikes to finding bikes that fit their needs.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566160"/>
            <a:ext cx="46634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3566160"/>
            <a:ext cx="64008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9574" y="3649569"/>
            <a:ext cx="177176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Main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9" y="4133087"/>
            <a:ext cx="3981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Recommendations with specifications, match percentage, comparison and a Know More link to the manufacturer.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EXISTING SYSTEM &amp;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45021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Limitations of current motorcycle research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1353839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1563624"/>
            <a:ext cx="21203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Multiple Websites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331" y="2001578"/>
            <a:ext cx="27772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Separate manufacturer, review and comparison websites</a:t>
            </a:r>
            <a:r>
              <a:rPr sz="14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8764" y="1555593"/>
            <a:ext cx="23096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Low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6838" y="2001578"/>
            <a:ext cx="2749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Limited recommendations based on individual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64008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3910" y="1563624"/>
            <a:ext cx="233749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Manual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021086"/>
            <a:ext cx="2724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Users collect and compare specifications themselves.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61188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11636" y="3778698"/>
            <a:ext cx="19659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Budget Difficulty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331" y="4178808"/>
            <a:ext cx="28163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Hard to identify the best option within budget and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6844" y="3625375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61188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8" y="3758184"/>
            <a:ext cx="25221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Scattered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2588" y="4199249"/>
            <a:ext cx="2749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Brand information is distributed across platforms.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1188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611880"/>
            <a:ext cx="64008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78571" y="3732686"/>
            <a:ext cx="17771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Popularity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6309" y="4132796"/>
            <a:ext cx="2862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Some recommendations depend on popularity or advertising.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4582" y="896112"/>
            <a:ext cx="42779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How </a:t>
            </a:r>
            <a:r>
              <a:rPr sz="1600" dirty="0" err="1"/>
              <a:t>TrueBiker</a:t>
            </a:r>
            <a:r>
              <a:rPr sz="1600" dirty="0"/>
              <a:t> addresses the identified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316736"/>
            <a:ext cx="32461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9949" y="1517904"/>
            <a:ext cx="16629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Secure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5" y="1918014"/>
            <a:ext cx="30449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JWT login and </a:t>
            </a:r>
            <a:r>
              <a:rPr sz="1600" dirty="0" err="1"/>
              <a:t>bcrypt</a:t>
            </a:r>
            <a:r>
              <a:rPr sz="1600" dirty="0"/>
              <a:t> password hashing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2461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64008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1164" y="1527274"/>
            <a:ext cx="23734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Preference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6069" y="1927384"/>
            <a:ext cx="2880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Riding type, budget, brand, mileage, reliability and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2461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64008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5544" y="1490031"/>
            <a:ext cx="20719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1061" y="1927695"/>
            <a:ext cx="29809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Preference-to-bike matching and scoring.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2461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6962" y="3712463"/>
            <a:ext cx="24089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Research &amp; 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133087"/>
            <a:ext cx="2880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Detailed specifications, side-by-side comparison and </a:t>
            </a:r>
            <a:r>
              <a:rPr sz="1600" dirty="0" err="1"/>
              <a:t>favourites</a:t>
            </a:r>
            <a:r>
              <a:rPr sz="1600"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2461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62563" y="3712463"/>
            <a:ext cx="14272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Know More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133087"/>
            <a:ext cx="2880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Direct navigation to the official manufacturer's website.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KEY OBJECTIVES &amp;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41208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What the current system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5438" y="1517904"/>
            <a:ext cx="18148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Personalization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18014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Recommend motorcycles using riding style, budget, mileage, brand and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1554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23183" y="1517904"/>
            <a:ext cx="23974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Centralized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38528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Combine specifications, filtering, comparison and </a:t>
            </a:r>
            <a:r>
              <a:rPr sz="1600" dirty="0" err="1"/>
              <a:t>favourites</a:t>
            </a:r>
            <a:r>
              <a:rPr sz="16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4290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64008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85714" y="1517904"/>
            <a:ext cx="217046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Secure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8680" y="1944671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Registration, login, protected routes and secure password handling.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100584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sz="2000" dirty="0"/>
              <a:t>• User-side motorcycle discovery and recommendation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sz="2000" dirty="0"/>
              <a:t>• Motorcycle database management through admin module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sz="2000" dirty="0"/>
              <a:t>• Advanced search and filtering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sz="2000" dirty="0"/>
              <a:t>• Comparison and </a:t>
            </a:r>
            <a:r>
              <a:rPr sz="2000" dirty="0" err="1"/>
              <a:t>favourite</a:t>
            </a:r>
            <a:r>
              <a:rPr sz="2000" dirty="0"/>
              <a:t> management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sz="2000" dirty="0"/>
              <a:t>• Official manufacturer redirection through Know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EXISTING SYSTEM vs TRUEBIKER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41228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A direct comparison of the research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20800"/>
            <a:ext cx="5212080" cy="377873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91439" cy="367713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31153" y="1651441"/>
            <a:ext cx="24665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400" dirty="0"/>
              <a:t>Existing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4215" y="2240673"/>
            <a:ext cx="2613921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2000" dirty="0"/>
              <a:t>Multiple sites</a:t>
            </a:r>
            <a:br>
              <a:rPr sz="2000" dirty="0"/>
            </a:br>
            <a:r>
              <a:rPr sz="2000" dirty="0"/>
              <a:t>Manual comparison</a:t>
            </a:r>
            <a:br>
              <a:rPr sz="2000" dirty="0"/>
            </a:br>
            <a:r>
              <a:rPr sz="2000" dirty="0"/>
              <a:t>Limited personalization</a:t>
            </a:r>
            <a:br>
              <a:rPr sz="2000" dirty="0"/>
            </a:br>
            <a:r>
              <a:rPr sz="2000" dirty="0"/>
              <a:t>Scattered information</a:t>
            </a:r>
            <a:br>
              <a:rPr sz="2000" dirty="0"/>
            </a:br>
            <a:r>
              <a:rPr sz="2000" dirty="0"/>
              <a:t>Manual shortlisting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12080" cy="372793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16320" y="1404228"/>
            <a:ext cx="101600" cy="372793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76829" y="1651441"/>
            <a:ext cx="14028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400" dirty="0" err="1"/>
              <a:t>TrueBiker</a:t>
            </a:r>
            <a:endParaRPr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6790002" y="2113960"/>
            <a:ext cx="3976473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2000" dirty="0"/>
              <a:t>Centralized research</a:t>
            </a:r>
            <a:br>
              <a:rPr sz="2000" dirty="0"/>
            </a:br>
            <a:r>
              <a:rPr sz="2000" dirty="0"/>
              <a:t>Side-by-side comparison</a:t>
            </a:r>
            <a:br>
              <a:rPr sz="2000" dirty="0"/>
            </a:br>
            <a:r>
              <a:rPr sz="2000" dirty="0"/>
              <a:t>Preference-based recommendations</a:t>
            </a:r>
            <a:br>
              <a:rPr sz="2000" dirty="0"/>
            </a:br>
            <a:r>
              <a:rPr sz="2000" dirty="0"/>
              <a:t>Structured database</a:t>
            </a:r>
            <a:br>
              <a:rPr sz="2000" dirty="0"/>
            </a:br>
            <a:r>
              <a:rPr sz="2000" dirty="0"/>
              <a:t>Match percentage</a:t>
            </a:r>
            <a:br>
              <a:rPr sz="2000" dirty="0"/>
            </a:br>
            <a:r>
              <a:rPr sz="2000" dirty="0"/>
              <a:t>Know More → official website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30027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End-to-end workflow of </a:t>
            </a:r>
            <a:r>
              <a:rPr sz="1600" dirty="0" err="1"/>
              <a:t>TrueBiker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6782" y="1563624"/>
            <a:ext cx="25463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01</a:t>
            </a:r>
            <a:r>
              <a:rPr lang="en-US" sz="2000" dirty="0"/>
              <a:t>.</a:t>
            </a:r>
            <a:r>
              <a:rPr sz="2000" dirty="0"/>
              <a:t>  REGISTER /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16252"/>
            <a:ext cx="27551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Secure account authentication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9414" y="1563624"/>
            <a:ext cx="28935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02</a:t>
            </a:r>
            <a:r>
              <a:rPr lang="en-US" sz="2000" dirty="0"/>
              <a:t>.</a:t>
            </a:r>
            <a:r>
              <a:rPr sz="2000" dirty="0"/>
              <a:t>  SELECT PREFERENCES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84248"/>
            <a:ext cx="29809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Riding, budget, brand, mileage and features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64008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69497" y="1563624"/>
            <a:ext cx="24029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03</a:t>
            </a:r>
            <a:r>
              <a:rPr lang="en-US" sz="2000" dirty="0"/>
              <a:t>.</a:t>
            </a:r>
            <a:r>
              <a:rPr sz="2000" dirty="0"/>
              <a:t>  MATCH &amp;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4983" y="1993833"/>
            <a:ext cx="29169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Compare preferences with motorcycle records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4246" y="3803904"/>
            <a:ext cx="21578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04</a:t>
            </a:r>
            <a:r>
              <a:rPr lang="en-US" sz="2000" dirty="0"/>
              <a:t>.</a:t>
            </a:r>
            <a:r>
              <a:rPr sz="2000" dirty="0"/>
              <a:t>  VIEW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24528"/>
            <a:ext cx="29809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Show recommended bikes and match percentage</a:t>
            </a:r>
            <a:r>
              <a:rPr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65760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60088" y="3839386"/>
            <a:ext cx="246868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05</a:t>
            </a:r>
            <a:r>
              <a:rPr lang="en-US" sz="2000" dirty="0"/>
              <a:t>.</a:t>
            </a:r>
            <a:r>
              <a:rPr sz="2000" dirty="0"/>
              <a:t>  COMPARE / SAVE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224528"/>
            <a:ext cx="30983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Compare bikes and save </a:t>
            </a:r>
            <a:r>
              <a:rPr sz="1600" dirty="0" err="1"/>
              <a:t>favourites</a:t>
            </a:r>
            <a:r>
              <a:rPr dirty="0"/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1604" y="3685473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64008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69497" y="3803904"/>
            <a:ext cx="20650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06</a:t>
            </a:r>
            <a:r>
              <a:rPr lang="en-US" sz="2000" dirty="0"/>
              <a:t>.</a:t>
            </a:r>
            <a:r>
              <a:rPr sz="2000" dirty="0"/>
              <a:t>  KNOW MORE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3" y="4243158"/>
            <a:ext cx="29169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Continue to the official manufacturer website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36081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Technologies used in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86219" y="1567491"/>
            <a:ext cx="115384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6371" y="1937836"/>
            <a:ext cx="174560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React.js</a:t>
            </a:r>
            <a:br>
              <a:rPr sz="1600" dirty="0"/>
            </a:br>
            <a:r>
              <a:rPr sz="1600" dirty="0"/>
              <a:t>Tailwind CSS</a:t>
            </a:r>
            <a:br>
              <a:rPr sz="1600" dirty="0"/>
            </a:br>
            <a:r>
              <a:rPr sz="1600" dirty="0"/>
              <a:t>React Router DOM</a:t>
            </a:r>
            <a:br>
              <a:rPr sz="1600" dirty="0"/>
            </a:br>
            <a:r>
              <a:rPr sz="1600" dirty="0"/>
              <a:t>Axios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3699" y="1563624"/>
            <a:ext cx="10849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0552" y="1937836"/>
            <a:ext cx="99469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Node.js</a:t>
            </a:r>
            <a:br>
              <a:rPr sz="1600" dirty="0"/>
            </a:br>
            <a:r>
              <a:rPr sz="1600" dirty="0"/>
              <a:t>Express.js</a:t>
            </a:r>
            <a:br>
              <a:rPr sz="1600" dirty="0"/>
            </a:br>
            <a:r>
              <a:rPr sz="1600" dirty="0"/>
              <a:t>REST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64008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4630" y="1571060"/>
            <a:ext cx="118006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6999" y="2021735"/>
            <a:ext cx="10713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MongoDB</a:t>
            </a:r>
            <a:br>
              <a:rPr sz="1600" dirty="0"/>
            </a:br>
            <a:r>
              <a:rPr sz="1600" dirty="0"/>
              <a:t>Mongoose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58687" y="3803904"/>
            <a:ext cx="10454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1886" y="4210801"/>
            <a:ext cx="16212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lang="en-US" sz="1600" dirty="0"/>
              <a:t>       </a:t>
            </a:r>
            <a:r>
              <a:rPr sz="1600" dirty="0"/>
              <a:t>JWT</a:t>
            </a:r>
            <a:br>
              <a:rPr sz="1600" dirty="0"/>
            </a:br>
            <a:r>
              <a:rPr lang="en-US" sz="1600" dirty="0"/>
              <a:t>       </a:t>
            </a:r>
            <a:r>
              <a:rPr sz="1600" dirty="0" err="1"/>
              <a:t>bcrypt</a:t>
            </a:r>
            <a:br>
              <a:rPr sz="1600" dirty="0"/>
            </a:br>
            <a:r>
              <a:rPr sz="1600" dirty="0"/>
              <a:t>Protected Routes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65760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63915" y="3803904"/>
            <a:ext cx="16245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915" y="4224528"/>
            <a:ext cx="145456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JavaScript ES6+</a:t>
            </a:r>
            <a:br>
              <a:rPr sz="1600" dirty="0"/>
            </a:br>
            <a:r>
              <a:rPr lang="en-US" sz="1600" dirty="0"/>
              <a:t>         </a:t>
            </a:r>
            <a:r>
              <a:rPr sz="1600" dirty="0"/>
              <a:t>Vite</a:t>
            </a:r>
            <a:br>
              <a:rPr sz="1600" dirty="0"/>
            </a:br>
            <a:r>
              <a:rPr lang="en-US" sz="1600" dirty="0"/>
              <a:t>         </a:t>
            </a:r>
            <a:r>
              <a:rPr sz="1600" dirty="0" err="1"/>
              <a:t>npm</a:t>
            </a:r>
            <a:br>
              <a:rPr sz="1600" dirty="0"/>
            </a:br>
            <a:r>
              <a:rPr lang="en-US" sz="1600" dirty="0"/>
              <a:t>       </a:t>
            </a:r>
            <a:r>
              <a:rPr sz="1600" dirty="0"/>
              <a:t>VS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5760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64008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2491" y="3810691"/>
            <a:ext cx="17003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Testing /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1491" y="4224528"/>
            <a:ext cx="141891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Postman</a:t>
            </a:r>
            <a:br>
              <a:rPr sz="1600" dirty="0"/>
            </a:br>
            <a:r>
              <a:rPr sz="1600" dirty="0"/>
              <a:t>Git</a:t>
            </a:r>
            <a:br>
              <a:rPr sz="1600" dirty="0"/>
            </a:br>
            <a:r>
              <a:rPr sz="1600" dirty="0"/>
              <a:t>Chrome / Edge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MAJOR 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42779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Modular design for maintainability and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93107" y="1472184"/>
            <a:ext cx="17766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7016" y="1892807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663" y="1435607"/>
            <a:ext cx="23734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Preference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0987" y="1892807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32588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2441" y="1472184"/>
            <a:ext cx="24370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Motorcycle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537" y="1892807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4320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74320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115" y="2889504"/>
            <a:ext cx="28446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Recommendation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7016" y="3310128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74320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2743200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5789" y="2889504"/>
            <a:ext cx="17407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Search &amp;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1777" y="3310128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74320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274320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83626" y="2889504"/>
            <a:ext cx="19746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Bike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6537" y="3310128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6052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16052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89970" y="4242816"/>
            <a:ext cx="11463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Favorites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7016" y="4727448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16052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34840" y="4160520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29189" y="4242816"/>
            <a:ext cx="28939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Bike Details / Know More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1777" y="4727448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160520"/>
            <a:ext cx="32461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9600" y="416052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19987" y="4306824"/>
            <a:ext cx="21019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Admin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537" y="4727448"/>
            <a:ext cx="1548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400" dirty="0"/>
              <a:t>Functional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21690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Key application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66D5DA3-8C60-6467-0E32-82B9B04C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57" y="1691444"/>
            <a:ext cx="4323430" cy="321661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97AFEE-8737-CDD2-E578-477A06E77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93" y="1691444"/>
            <a:ext cx="2775757" cy="32166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2C89E4A-5040-B73B-2463-3EB03B8C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356" y="1691444"/>
            <a:ext cx="4617644" cy="321661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2BFFB8C-3927-662E-8DB9-4BD03F5E4892}"/>
              </a:ext>
            </a:extLst>
          </p:cNvPr>
          <p:cNvSpPr txBox="1"/>
          <p:nvPr/>
        </p:nvSpPr>
        <p:spPr>
          <a:xfrm>
            <a:off x="1580836" y="4997279"/>
            <a:ext cx="1210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HOME PAGE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E5941-9F08-BD9B-5842-00D363D650A2}"/>
              </a:ext>
            </a:extLst>
          </p:cNvPr>
          <p:cNvSpPr txBox="1"/>
          <p:nvPr/>
        </p:nvSpPr>
        <p:spPr>
          <a:xfrm>
            <a:off x="5737255" y="4908062"/>
            <a:ext cx="71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LOGIN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4CF4C6-2FAD-837E-3A31-F72EB483432D}"/>
              </a:ext>
            </a:extLst>
          </p:cNvPr>
          <p:cNvSpPr txBox="1"/>
          <p:nvPr/>
        </p:nvSpPr>
        <p:spPr>
          <a:xfrm>
            <a:off x="9255442" y="4971758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PREFERENCE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7618-6C8B-2A08-E0D4-D140A1BD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E69066-C92C-E9F8-FBF5-4781E1C0FA7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8A4F1-8A20-4CB1-E6FA-A9556BD03322}"/>
              </a:ext>
            </a:extLst>
          </p:cNvPr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FDB55-7F2B-C51B-87ED-0B7143504E79}"/>
              </a:ext>
            </a:extLst>
          </p:cNvPr>
          <p:cNvSpPr txBox="1"/>
          <p:nvPr/>
        </p:nvSpPr>
        <p:spPr>
          <a:xfrm>
            <a:off x="621792" y="932688"/>
            <a:ext cx="21690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Key application 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1394F-C48B-2FDF-121D-DB9E9F7C27C3}"/>
              </a:ext>
            </a:extLst>
          </p:cNvPr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42130B-C534-9B2A-E789-1DC91E76A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9151"/>
            <a:ext cx="4189046" cy="3011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AF2AD1-0C8F-4177-FC4F-1EE7752AA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046" y="1779153"/>
            <a:ext cx="4126523" cy="3011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4E0DB5-2055-B2B9-E4FA-F7D58A6D8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861" y="1779153"/>
            <a:ext cx="3704491" cy="30116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1F26D2-8D90-052A-0FFB-8BB99B9FF69E}"/>
              </a:ext>
            </a:extLst>
          </p:cNvPr>
          <p:cNvSpPr txBox="1"/>
          <p:nvPr/>
        </p:nvSpPr>
        <p:spPr>
          <a:xfrm>
            <a:off x="1160229" y="4895092"/>
            <a:ext cx="1868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RECOMMENDATION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331E4C-BE63-6FE4-9D52-8411D7A4CEC5}"/>
              </a:ext>
            </a:extLst>
          </p:cNvPr>
          <p:cNvSpPr txBox="1"/>
          <p:nvPr/>
        </p:nvSpPr>
        <p:spPr>
          <a:xfrm>
            <a:off x="5254790" y="4895092"/>
            <a:ext cx="1995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RECOMMENDED BIKE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39B35A-FD19-4784-32FA-F8E48F417E45}"/>
              </a:ext>
            </a:extLst>
          </p:cNvPr>
          <p:cNvSpPr txBox="1"/>
          <p:nvPr/>
        </p:nvSpPr>
        <p:spPr>
          <a:xfrm>
            <a:off x="9475796" y="4895092"/>
            <a:ext cx="13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COMPARISION</a:t>
            </a:r>
          </a:p>
        </p:txBody>
      </p:sp>
    </p:spTree>
    <p:extLst>
      <p:ext uri="{BB962C8B-B14F-4D97-AF65-F5344CB8AC3E}">
        <p14:creationId xmlns:p14="http://schemas.microsoft.com/office/powerpoint/2010/main" val="1976318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96CF-8512-8BB4-8021-81D91475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A43BC5-890F-604A-B0C1-94C02201D4BD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5FBA0-D767-9EB8-A349-58A1864968E9}"/>
              </a:ext>
            </a:extLst>
          </p:cNvPr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DCFBC-58EB-903C-FC04-363048F35988}"/>
              </a:ext>
            </a:extLst>
          </p:cNvPr>
          <p:cNvSpPr txBox="1"/>
          <p:nvPr/>
        </p:nvSpPr>
        <p:spPr>
          <a:xfrm>
            <a:off x="621792" y="932688"/>
            <a:ext cx="21690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Key application 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C4213-E3FE-41E6-4C3E-E236D62F39B9}"/>
              </a:ext>
            </a:extLst>
          </p:cNvPr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E6B4D9-55EA-FF10-5BCC-0F0FBD9C2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6031"/>
            <a:ext cx="4024922" cy="3219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3DF4B2-28A7-3B74-4F9E-94E48FC06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755" y="1946031"/>
            <a:ext cx="4024922" cy="3219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7F0D31-E399-C38C-C5C2-3C8F68CA7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386" y="1946031"/>
            <a:ext cx="3439551" cy="32199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7E9E2F-1134-BA5F-F429-1C5B451C4565}"/>
              </a:ext>
            </a:extLst>
          </p:cNvPr>
          <p:cNvSpPr txBox="1"/>
          <p:nvPr/>
        </p:nvSpPr>
        <p:spPr>
          <a:xfrm>
            <a:off x="1470229" y="5270231"/>
            <a:ext cx="1084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FAVORITES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C56540-2E6B-B2C5-7D63-3364D8AE837F}"/>
              </a:ext>
            </a:extLst>
          </p:cNvPr>
          <p:cNvSpPr txBox="1"/>
          <p:nvPr/>
        </p:nvSpPr>
        <p:spPr>
          <a:xfrm>
            <a:off x="5235086" y="5270231"/>
            <a:ext cx="2143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DETAILED DESCRIPTION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D321C5-9262-6846-E61C-C6F1AD4A8FEB}"/>
              </a:ext>
            </a:extLst>
          </p:cNvPr>
          <p:cNvSpPr txBox="1"/>
          <p:nvPr/>
        </p:nvSpPr>
        <p:spPr>
          <a:xfrm>
            <a:off x="9615992" y="5264908"/>
            <a:ext cx="1715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OFFICIAL WEBSITE</a:t>
            </a:r>
          </a:p>
        </p:txBody>
      </p:sp>
    </p:spTree>
    <p:extLst>
      <p:ext uri="{BB962C8B-B14F-4D97-AF65-F5344CB8AC3E}">
        <p14:creationId xmlns:p14="http://schemas.microsoft.com/office/powerpoint/2010/main" val="3508383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43407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Hardware and software needed to run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11719" y="1563624"/>
            <a:ext cx="121866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872" y="1979665"/>
            <a:ext cx="3049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Intel Core i3 (7th Gen) or higher / equivalent AMD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64008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26422" y="1563624"/>
            <a:ext cx="10995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992913"/>
            <a:ext cx="252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8 GB recommended; minimum 4 GB.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2461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64008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3489" y="1579555"/>
            <a:ext cx="9912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6857" y="1984248"/>
            <a:ext cx="24881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256 GB SSD or 500 GB HDD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2461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611880"/>
            <a:ext cx="64008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89520" y="3768841"/>
            <a:ext cx="11472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689" y="4185000"/>
            <a:ext cx="2672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Windows 10/11, Node.js, MongoDB, modern browser.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11880"/>
            <a:ext cx="32461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611880"/>
            <a:ext cx="64008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06060" y="3704433"/>
            <a:ext cx="7299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178808"/>
            <a:ext cx="28716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VS Code, </a:t>
            </a:r>
            <a:r>
              <a:rPr sz="1600" dirty="0" err="1"/>
              <a:t>npm</a:t>
            </a:r>
            <a:r>
              <a:rPr sz="1600" dirty="0"/>
              <a:t>, Git and Postman.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11880"/>
            <a:ext cx="32461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61188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3489" y="3704433"/>
            <a:ext cx="11105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540" y="4105895"/>
            <a:ext cx="25967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rPr sz="1600" dirty="0"/>
              <a:t>Internet connection for database access</a:t>
            </a:r>
            <a:r>
              <a:rPr lang="en-US" sz="1600" dirty="0"/>
              <a:t> and deployment</a:t>
            </a:r>
            <a:r>
              <a:rPr sz="1600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35113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What the implemented system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1162"/>
            <a:ext cx="6492240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Secure registration and login before protected functionality.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Interactive preference selection for motorcycle requirements.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Recommendation results based on selected preferences.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Detailed specifications, comparison and </a:t>
            </a:r>
            <a:r>
              <a:rPr sz="2000" dirty="0" err="1"/>
              <a:t>favourites</a:t>
            </a:r>
            <a:r>
              <a:rPr sz="2000" dirty="0"/>
              <a:t>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Know More connects riders to official manufacturer websites.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</a:defRPr>
            </a:pPr>
            <a:r>
              <a:rPr sz="2000" dirty="0"/>
              <a:t>• Modular MERN architecture supports future expansion</a:t>
            </a:r>
            <a:r>
              <a:rPr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AB103C-0F06-B6D6-7083-E0292D799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315" y="1551161"/>
            <a:ext cx="5210417" cy="34394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49324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/>
              <a:t>Possible extensions beyond the current academic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10488" y="1472184"/>
            <a:ext cx="19418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More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2880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Expand riding, comfort, performance and ownership preferences.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4889" y="1472184"/>
            <a:ext cx="24625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Industry Partnerships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92807"/>
            <a:ext cx="27746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Explore partnerships with manufacturers, dealers and verified providers.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325880"/>
            <a:ext cx="64008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0116" y="1472184"/>
            <a:ext cx="11616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Live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892807"/>
            <a:ext cx="2816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Use trusted APIs/data services for updated prices, launches and specifications.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4791" y="3675888"/>
            <a:ext cx="24566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AI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133088"/>
            <a:ext cx="27929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Use machine learning and interaction history to improve scoring.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36768" y="3712464"/>
            <a:ext cx="20788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Buying Assistance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133088"/>
            <a:ext cx="2816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Add EMI, dealer locations, price trends and best-time-to-buy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324612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56616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1836" y="3693200"/>
            <a:ext cx="18142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sz="2000" dirty="0"/>
              <a:t>Mobile &amp; Voice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133088"/>
            <a:ext cx="2724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 sz="1600" dirty="0"/>
              <a:t>Extend to mobile devices and voice-based motorcycle 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52315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1600" dirty="0" err="1"/>
              <a:t>TrueBiker</a:t>
            </a:r>
            <a:r>
              <a:rPr sz="1600" dirty="0"/>
              <a:t> as a smarter starting point for motorcycle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5450"/>
            <a:ext cx="102412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TrueBiker</a:t>
            </a:r>
            <a:r>
              <a:rPr sz="2000" dirty="0"/>
              <a:t> simplifies motorcycle selection by combining user preferences with structured motorcycle data.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</a:defRPr>
            </a:pPr>
            <a:r>
              <a:rPr sz="2000" dirty="0"/>
              <a:t>• It reduces the effort of searching across multiple platforms and manually comparing models.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</a:defRPr>
            </a:pPr>
            <a:r>
              <a:rPr sz="2000" dirty="0"/>
              <a:t>• The MERN architecture provides a modern, modular and scalable foundation.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</a:defRPr>
            </a:pPr>
            <a:r>
              <a:rPr sz="2000" dirty="0"/>
              <a:t>• Recommendations, comparison, </a:t>
            </a:r>
            <a:r>
              <a:rPr sz="2000" dirty="0" err="1"/>
              <a:t>favourites</a:t>
            </a:r>
            <a:r>
              <a:rPr sz="2000" dirty="0"/>
              <a:t> and official manufacturer links support informed decision-making.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</a:defRPr>
            </a:pPr>
            <a:r>
              <a:rPr sz="2000" dirty="0"/>
              <a:t>• Future growth can include larger datasets, live data, AI recommendations and industry partnerships.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Personalized discovery • Centralized research • Better motorcycle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84389" y="1933526"/>
            <a:ext cx="299274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8FAFC"/>
                </a:solidFill>
              </a:defRPr>
            </a:pPr>
            <a:r>
              <a:rPr sz="4400"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4709" y="3118714"/>
            <a:ext cx="369210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EA5E9"/>
                </a:solidFill>
              </a:defRPr>
            </a:pPr>
            <a:r>
              <a:rPr sz="2000" dirty="0"/>
              <a:t>TRUEBIKER</a:t>
            </a:r>
          </a:p>
          <a:p>
            <a:pPr algn="ctr">
              <a:defRPr sz="1400" b="0">
                <a:solidFill>
                  <a:srgbClr val="94A3B8"/>
                </a:solidFill>
              </a:defRPr>
            </a:pPr>
            <a:r>
              <a:rPr sz="2000" dirty="0"/>
              <a:t>Bike Researcher for Riders</a:t>
            </a:r>
          </a:p>
          <a:p>
            <a:pPr algn="ctr">
              <a:defRPr sz="1400" b="0">
                <a:solidFill>
                  <a:srgbClr val="94A3B8"/>
                </a:solidFill>
              </a:defRPr>
            </a:pPr>
            <a:r>
              <a:rPr sz="2000" dirty="0"/>
              <a:t>Sachin Shetty • </a:t>
            </a:r>
            <a:r>
              <a:rPr sz="2000" dirty="0" err="1"/>
              <a:t>Saidarshan</a:t>
            </a:r>
            <a:r>
              <a:rPr sz="2000" dirty="0"/>
              <a:t> Shetty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932</TotalTime>
  <Words>951</Words>
  <Application>Microsoft Office PowerPoint</Application>
  <PresentationFormat>Widescreen</PresentationFormat>
  <Paragraphs>190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Arial Nova Light</vt:lpstr>
      <vt:lpstr>Calibri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SACHU</dc:creator>
  <cp:keywords/>
  <dc:description>generated using python-pptx</dc:description>
  <cp:lastModifiedBy>sachin shetty</cp:lastModifiedBy>
  <cp:revision>8</cp:revision>
  <dcterms:created xsi:type="dcterms:W3CDTF">2013-01-27T09:14:16Z</dcterms:created>
  <dcterms:modified xsi:type="dcterms:W3CDTF">2026-08-11T05:10:29Z</dcterms:modified>
  <cp:category/>
</cp:coreProperties>
</file>